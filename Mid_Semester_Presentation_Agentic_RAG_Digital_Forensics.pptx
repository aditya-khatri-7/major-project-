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4000" r:id="rId2"/>
    <p:sldId id="4001" r:id="rId3"/>
    <p:sldId id="4002" r:id="rId4"/>
    <p:sldId id="4003" r:id="rId5"/>
    <p:sldId id="4004" r:id="rId6"/>
    <p:sldId id="4005" r:id="rId7"/>
    <p:sldId id="4006" r:id="rId8"/>
    <p:sldId id="4007" r:id="rId9"/>
    <p:sldId id="4008" r:id="rId10"/>
    <p:sldId id="4009" r:id="rId11"/>
    <p:sldId id="4010" r:id="rId210"/>
    <p:sldId id="4011" r:id="rId211"/>
    <p:sldId id="4012" r:id="rId212"/>
    <p:sldId id="4013" r:id="rId213"/>
    <p:sldId id="4014" r:id="rId214"/>
    <p:sldId id="4015" r:id="rId215"/>
    <p:sldId id="401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3" autoAdjust="0"/>
    <p:restoredTop sz="96327"/>
  </p:normalViewPr>
  <p:slideViewPr>
    <p:cSldViewPr snapToGrid="0" snapToObjects="1">
      <p:cViewPr varScale="1">
        <p:scale>
          <a:sx n="73" d="100"/>
          <a:sy n="73" d="100"/>
        </p:scale>
        <p:origin x="480" y="7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 Id="rId210" Type="http://schemas.openxmlformats.org/officeDocument/2006/relationships/slide" Target="slides/slide12.xml"/><Relationship Id="rId211" Type="http://schemas.openxmlformats.org/officeDocument/2006/relationships/slide" Target="slides/slide13.xml"/><Relationship Id="rId212" Type="http://schemas.openxmlformats.org/officeDocument/2006/relationships/slide" Target="slides/slide14.xml"/><Relationship Id="rId213" Type="http://schemas.openxmlformats.org/officeDocument/2006/relationships/slide" Target="slides/slide15.xml"/><Relationship Id="rId214" Type="http://schemas.openxmlformats.org/officeDocument/2006/relationships/slide" Target="slides/slide16.xml"/><Relationship Id="rId21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3/17/2022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talk. Today covers the problem, what was reviewed, what we set out to do, how the work was organised, what is built and what the measurements show. The right-hand box gives the one-sentence status.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generated text and faces are cheap and convincing, so appearance is no longer evidence. Single detectors give a score without evidence and fail on new sources. We therefore treat detection as an investigation: several tools, retrieved knowledge, and a verifier that can say it is not sure. Application areas on the right.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concepts on the left are the ones the system actually uses. The dataset table on the right shows the sources; the important design point is the split: text by document, images by video, and whole generators and manipulation methods held out of training.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reviewed work covers text benchmarks, zero-shot detection, image forensics benchmarks and agentic reasoning. The common finding is that performance depends on the distribution, which is why our evaluation holds out generators, attacks and datasets.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from the literature, and the gap: existing work is organised around single detectors or single modalities. Our own early results reproduced the same pattern, which is the evidence on the right.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objective and the seven sub-objectives from the synopsis with their honest status. Three are done with modifications, which are explained on the methodology slide and recorded in the decision log.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method was iterative and evaluation-driven: build, measure on held-out data, diagnose the failure, fix, measure again. That loop found the two biggest problems, the text and image generalisation gaps. Timeline shows all seven phases and their status.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architecture as built. A request is validated, routed by modality, scored by independent tools, enriched with cited reference material and reconciled by the verifier, then written to an audit record. Requirements on the right; the link to the repository holds the full specification.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Attained deliverables against what remains. The remaining items are mostly gated by the judge API quota rather than by missing design.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interface a reviewer sees. The finding sits at the top with a meter that shows where the combined reading lies relative to the decision thresholds, then each instrument's reading, the Grad-CAM figure, verifier notes and cited reference material. Earlier cases generated by the system are labelled unverified.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held-out sets, 1000 samples each. The classifier carries the result; fusing Binoculars changes AUROC by at most 0.006, so it is kept as a low-weight second opinion. At a strict one percent false-positive budget the hardest sets are detected 58 to 61 percent of the time. The system refers 30 to 52 percent of cases and is 92 to 99.6 percent accurate on the rest.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Face-swap detection on four held-out sets, 1500 images each. Seen datasets are strong. The honest result is the last bar: on manipulation methods the system never saw, AUROC is 0.794 and only 13 percent of fakes are caught at one percent false positives. Celeb-DF and FF++ were in the training mix with video-disjoint tests, so only Face2Face and FaceShifter are truly zero-shot.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mimic social-media handling we degraded images and re-scored with thresholds unchanged. Ranking quality survives, but false alarms on real faces rise, worst on FaceForensics++. Material that was re-uploaded needs a human check. The table lists the problems the evaluation exposed and their fixes.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seven sub-objectives are complete and evaluation is complete for the local tools. The main finding is methodological: in-domain scores hid collapses on other sources, and diagnosing them was most of the work. We state the limitations ourselves: unseen manipulation methods, re-uploaded images, and judges not yet benchmarked because the free API quota is 20 requests per day.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Cited work. The first eight are from the synopsis; the rest were added during implementation.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3/17/2022</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3/17/2022</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deck_100.png"/><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deck_101.png"/><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deck_102.png"/><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deck_103.png"/><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deck_104.png"/><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1180999" y="1532487"/>
            <a:ext cx="9948555" cy="923330"/>
          </a:xfrm>
          <a:prstGeom prst="rect">
            <a:avLst/>
          </a:prstGeom>
          <a:noFill/>
        </p:spPr>
        <p:txBody>
          <a:bodyPr wrap="square" rtlCol="0">
            <a:spAutoFit/>
          </a:bodyPr>
          <a:lstStyle/>
          <a:p>
            <a:pPr algn="ctr"/>
            <a:r>
              <a:rPr lang="en-IN" sz="4000" dirty="0" smtClean="0"/>
              <a:t>Mid-Semester Project Presentation</a:t>
            </a:r>
            <a:endParaRPr lang="en-IN" sz="4000" dirty="0"/>
          </a:p>
        </p:txBody>
      </p:sp>
      <p:sp>
        <p:nvSpPr>
          <p:cNvPr id="4" name="TextBox 3"/>
          <p:cNvSpPr txBox="1"/>
          <p:nvPr/>
        </p:nvSpPr>
        <p:spPr>
          <a:xfrm>
            <a:off x="1180999" y="2700000"/>
            <a:ext cx="9948555" cy="1100000"/>
          </a:xfrm>
          <a:prstGeom prst="rect">
            <a:avLst/>
          </a:prstGeom>
          <a:noFill/>
        </p:spPr>
        <p:txBody>
          <a:bodyPr wrap="square" rtlCol="0">
            <a:spAutoFit/>
          </a:bodyPr>
          <a:lstStyle/>
          <a:p>
            <a:pPr algn="ctr"/>
            <a:r>
              <a:rPr lang="en-IN" sz="2800" dirty="0" smtClean="0"/>
              <a:t>Agentic AI and RAG-Based Framework for Digital Forensics</a:t>
            </a:r>
            <a:endParaRPr lang="en-IN" sz="2800" dirty="0"/>
          </a:p>
        </p:txBody>
      </p:sp>
      <p:sp>
        <p:nvSpPr>
          <p:cNvPr id="6" name="TextBox 5"/>
          <p:cNvSpPr txBox="1"/>
          <p:nvPr/>
        </p:nvSpPr>
        <p:spPr>
          <a:xfrm>
            <a:off x="304829" y="4900000"/>
            <a:ext cx="5200000" cy="1754326"/>
          </a:xfrm>
          <a:prstGeom prst="rect">
            <a:avLst/>
          </a:prstGeom>
          <a:noFill/>
        </p:spPr>
        <p:txBody>
          <a:bodyPr wrap="square" rtlCol="0">
            <a:spAutoFit/>
          </a:bodyPr>
          <a:lstStyle/>
          <a:p>
            <a:r>
              <a:rPr lang="en-IN" sz="1600" b="1" dirty="0"/>
              <a:t>Presented by:</a:t>
            </a:r>
          </a:p>
          <a:p>
            <a:r>
              <a:rPr lang="en-IN" sz="1600" dirty="0"/>
              <a:t>R2142230710 - Aditya Khatri</a:t>
            </a:r>
          </a:p>
          <a:p>
            <a:r>
              <a:rPr lang="en-IN" sz="1600" dirty="0"/>
              <a:t>R2142230733 - Abhay Kumar Kashyap</a:t>
            </a:r>
          </a:p>
          <a:p>
            <a:r>
              <a:rPr lang="en-IN" sz="1600" dirty="0"/>
              <a:t>R2142230767 - Devansh Singh Rawat</a:t>
            </a:r>
          </a:p>
          <a:p>
            <a:r>
              <a:rPr lang="en-IN" sz="1600" dirty="0"/>
              <a:t>R2142231145 - Vanshika Trikha</a:t>
            </a:r>
          </a:p>
        </p:txBody>
      </p:sp>
      <p:sp>
        <p:nvSpPr>
          <p:cNvPr id="9" name="TextBox 8"/>
          <p:cNvSpPr txBox="1"/>
          <p:nvPr/>
        </p:nvSpPr>
        <p:spPr>
          <a:xfrm>
            <a:off x="6900000" y="4900000"/>
            <a:ext cx="4950000" cy="1500000"/>
          </a:xfrm>
          <a:prstGeom prst="rect">
            <a:avLst/>
          </a:prstGeom>
          <a:noFill/>
        </p:spPr>
        <p:txBody>
          <a:bodyPr wrap="square" rtlCol="0">
            <a:spAutoFit/>
          </a:bodyPr>
          <a:lstStyle/>
          <a:p>
            <a:r>
              <a:rPr lang="en-IN" sz="1600" b="1" dirty="0"/>
              <a:t>Mentored By</a:t>
            </a:r>
          </a:p>
          <a:p>
            <a:r>
              <a:rPr lang="en-IN" sz="1600" dirty="0"/>
              <a:t>Dr. Anish Kumar Vishwakarma</a:t>
            </a:r>
          </a:p>
          <a:p>
            <a:r>
              <a:rPr lang="en-IN" sz="1600" dirty="0"/>
              <a:t>Assistant Professor, School of Computer Science</a:t>
            </a:r>
          </a:p>
          <a:p>
            <a:r>
              <a:rPr lang="en-IN" sz="1600" dirty="0"/>
              <a:t>University of Petroleum &amp; Energy Studies, October 2026</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Content</a:t>
            </a:r>
          </a:p>
        </p:txBody>
      </p:sp>
      <p:sp>
        <p:nvSpPr>
          <p:cNvPr id="3" name="Text 3"/>
          <p:cNvSpPr txBox="1"/>
          <p:nvPr/>
        </p:nvSpPr>
        <p:spPr>
          <a:xfrm>
            <a:off x="822960" y="1143000"/>
            <a:ext cx="4754880" cy="4937760"/>
          </a:xfrm>
          <a:prstGeom prst="rect">
            <a:avLst/>
          </a:prstGeom>
          <a:noFill/>
          <a:ln>
            <a:noFill/>
          </a:ln>
        </p:spPr>
        <p:txBody>
          <a:bodyPr wrap="square" lIns="73152" tIns="73152" rIns="73152" bIns="73152" rtlCol="0" anchor="t">
            <a:noAutofit/>
          </a:bodyPr>
          <a:lstStyle/>
          <a:p>
            <a:pPr>
              <a:spcAft>
                <a:spcPts val="1100"/>
              </a:spcAft>
              <a:buNone/>
            </a:pPr>
            <a:r>
              <a:rPr lang="en-US" sz="2000" b="0" dirty="0">
                <a:solidFill>
                  <a:srgbClr val="1C2530"/>
                </a:solidFill>
                <a:latin typeface="Arial"/>
                <a:cs typeface="Arial"/>
              </a:rPr>
              <a:t>1.  Introduction</a:t>
            </a:r>
          </a:p>
          <a:p>
            <a:pPr>
              <a:spcAft>
                <a:spcPts val="1100"/>
              </a:spcAft>
              <a:buNone/>
            </a:pPr>
            <a:r>
              <a:rPr lang="en-US" sz="2000" b="0" dirty="0">
                <a:solidFill>
                  <a:srgbClr val="1C2530"/>
                </a:solidFill>
                <a:latin typeface="Arial"/>
                <a:cs typeface="Arial"/>
              </a:rPr>
              <a:t>2.  Literature Review</a:t>
            </a:r>
          </a:p>
          <a:p>
            <a:pPr>
              <a:spcAft>
                <a:spcPts val="1100"/>
              </a:spcAft>
              <a:buNone/>
            </a:pPr>
            <a:r>
              <a:rPr lang="en-US" sz="2000" b="0" dirty="0">
                <a:solidFill>
                  <a:srgbClr val="1C2530"/>
                </a:solidFill>
                <a:latin typeface="Arial"/>
                <a:cs typeface="Arial"/>
              </a:rPr>
              <a:t>3.  Objectives</a:t>
            </a:r>
          </a:p>
          <a:p>
            <a:pPr>
              <a:spcAft>
                <a:spcPts val="1100"/>
              </a:spcAft>
              <a:buNone/>
            </a:pPr>
            <a:r>
              <a:rPr lang="en-US" sz="2000" b="0" dirty="0">
                <a:solidFill>
                  <a:srgbClr val="1C2530"/>
                </a:solidFill>
                <a:latin typeface="Arial"/>
                <a:cs typeface="Arial"/>
              </a:rPr>
              <a:t>4.  Methodology</a:t>
            </a:r>
          </a:p>
          <a:p>
            <a:pPr>
              <a:spcAft>
                <a:spcPts val="1100"/>
              </a:spcAft>
              <a:buNone/>
            </a:pPr>
            <a:r>
              <a:rPr lang="en-US" sz="2000" b="0" dirty="0">
                <a:solidFill>
                  <a:srgbClr val="1C2530"/>
                </a:solidFill>
                <a:latin typeface="Arial"/>
                <a:cs typeface="Arial"/>
              </a:rPr>
              <a:t>5.  Working Model</a:t>
            </a:r>
          </a:p>
          <a:p>
            <a:pPr>
              <a:spcAft>
                <a:spcPts val="1100"/>
              </a:spcAft>
              <a:buNone/>
            </a:pPr>
            <a:r>
              <a:rPr lang="en-US" sz="2000" b="0" dirty="0">
                <a:solidFill>
                  <a:srgbClr val="1C2530"/>
                </a:solidFill>
                <a:latin typeface="Arial"/>
                <a:cs typeface="Arial"/>
              </a:rPr>
              <a:t>6.  Results</a:t>
            </a:r>
          </a:p>
          <a:p>
            <a:pPr>
              <a:spcAft>
                <a:spcPts val="1100"/>
              </a:spcAft>
              <a:buNone/>
            </a:pPr>
            <a:r>
              <a:rPr lang="en-US" sz="2000" b="0" dirty="0">
                <a:solidFill>
                  <a:srgbClr val="1C2530"/>
                </a:solidFill>
                <a:latin typeface="Arial"/>
                <a:cs typeface="Arial"/>
              </a:rPr>
              <a:t>7.  Conclusion</a:t>
            </a:r>
          </a:p>
          <a:p>
            <a:pPr>
              <a:spcAft>
                <a:spcPts val="1100"/>
              </a:spcAft>
              <a:buNone/>
            </a:pPr>
            <a:r>
              <a:rPr lang="en-US" sz="2000" b="0" dirty="0">
                <a:solidFill>
                  <a:srgbClr val="1C2530"/>
                </a:solidFill>
                <a:latin typeface="Arial"/>
                <a:cs typeface="Arial"/>
              </a:rPr>
              <a:t>8.  References</a:t>
            </a:r>
          </a:p>
        </p:txBody>
      </p:sp>
      <p:sp>
        <p:nvSpPr>
          <p:cNvPr id="4" name="Text 4"/>
          <p:cNvSpPr txBox="1"/>
          <p:nvPr/>
        </p:nvSpPr>
        <p:spPr>
          <a:xfrm>
            <a:off x="6583680" y="1325880"/>
            <a:ext cx="4846320" cy="3291840"/>
          </a:xfrm>
          <a:prstGeom prst="rect">
            <a:avLst/>
          </a:prstGeom>
          <a:solidFill>
            <a:srgbClr val="EEF4FA"/>
          </a:solidFill>
          <a:ln>
            <a:noFill/>
          </a:ln>
        </p:spPr>
        <p:txBody>
          <a:bodyPr wrap="square" lIns="228600" tIns="228600" rIns="228600" bIns="228600" rtlCol="0" anchor="t">
            <a:noAutofit/>
          </a:bodyPr>
          <a:lstStyle/>
          <a:p>
            <a:pPr>
              <a:spcAft>
                <a:spcPts val="900"/>
              </a:spcAft>
              <a:buNone/>
            </a:pPr>
            <a:r>
              <a:rPr lang="en-US" sz="1200" b="1" dirty="0">
                <a:solidFill>
                  <a:srgbClr val="5E6873"/>
                </a:solidFill>
                <a:latin typeface="Arial"/>
                <a:cs typeface="Arial"/>
              </a:rPr>
              <a:t>STATUS AT MID-SEMESTER</a:t>
            </a:r>
          </a:p>
          <a:p>
            <a:pPr>
              <a:spcAft>
                <a:spcPts val="900"/>
              </a:spcAft>
              <a:buNone/>
            </a:pPr>
            <a:r>
              <a:rPr lang="en-US" sz="1800" b="1" dirty="0">
                <a:solidFill>
                  <a:srgbClr val="1F3A5F"/>
                </a:solidFill>
                <a:latin typeface="Arial"/>
                <a:cs typeface="Arial"/>
              </a:rPr>
              <a:t>The framework runs end to end on local models, behind an API and a web interface.</a:t>
            </a:r>
          </a:p>
          <a:p>
            <a:pPr>
              <a:spcAft>
                <a:spcPts val="500"/>
              </a:spcAft>
              <a:buNone/>
            </a:pPr>
            <a:r>
              <a:rPr lang="en-US" sz="1500" b="0" dirty="0">
                <a:solidFill>
                  <a:srgbClr val="1C2530"/>
                </a:solidFill>
                <a:latin typeface="Arial"/>
                <a:cs typeface="Arial"/>
              </a:rPr>
              <a:t>6 of 7 sub-objectives complete; evaluation is complete for the local tools.</a:t>
            </a:r>
          </a:p>
          <a:p>
            <a:pPr>
              <a:spcAft>
                <a:spcPts val="500"/>
              </a:spcAft>
              <a:buNone/>
            </a:pPr>
            <a:r>
              <a:rPr lang="en-US" sz="1500" b="0" dirty="0">
                <a:solidFill>
                  <a:srgbClr val="1C2530"/>
                </a:solidFill>
                <a:latin typeface="Arial"/>
                <a:cs typeface="Arial"/>
              </a:rPr>
              <a:t>81 automated tests and CI pass.</a:t>
            </a:r>
          </a:p>
          <a:p>
            <a:pPr>
              <a:spcAft>
                <a:spcPts val="400"/>
              </a:spcAft>
              <a:buNone/>
            </a:pPr>
            <a:r>
              <a:rPr lang="en-US" sz="1500" b="0" dirty="0">
                <a:solidFill>
                  <a:srgbClr val="1C2530"/>
                </a:solidFill>
                <a:latin typeface="Arial"/>
                <a:cs typeface="Arial"/>
              </a:rPr>
              <a:t>Language-model judges are built but not yet benchmarked.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Introduction</a:t>
            </a:r>
          </a:p>
        </p:txBody>
      </p:sp>
      <p:sp>
        <p:nvSpPr>
          <p:cNvPr id="3" name="Text 3"/>
          <p:cNvSpPr txBox="1"/>
          <p:nvPr/>
        </p:nvSpPr>
        <p:spPr>
          <a:xfrm>
            <a:off x="640080" y="1051560"/>
            <a:ext cx="530352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THE PROBLEM</a:t>
            </a:r>
          </a:p>
        </p:txBody>
      </p:sp>
      <p:sp>
        <p:nvSpPr>
          <p:cNvPr id="4" name="Text 4"/>
          <p:cNvSpPr txBox="1"/>
          <p:nvPr/>
        </p:nvSpPr>
        <p:spPr>
          <a:xfrm>
            <a:off x="640080" y="1371600"/>
            <a:ext cx="5394960" cy="320040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700" b="0" dirty="0">
                <a:solidFill>
                  <a:srgbClr val="1C2530"/>
                </a:solidFill>
                <a:latin typeface="Arial"/>
                <a:cs typeface="Arial"/>
              </a:rPr>
              <a:t>Generative AI produces fluent text and photorealistic faces at very low cost.</a:t>
            </a:r>
          </a:p>
          <a:p>
            <a:pPr marL="246888" indent="-246888">
              <a:spcAft>
                <a:spcPts val="600"/>
              </a:spcAft>
              <a:buFont typeface="Arial"/>
              <a:buChar char="•"/>
            </a:pPr>
            <a:r>
              <a:rPr lang="en-US" sz="1700" b="0" dirty="0">
                <a:solidFill>
                  <a:srgbClr val="1C2530"/>
                </a:solidFill>
                <a:latin typeface="Arial"/>
                <a:cs typeface="Arial"/>
              </a:rPr>
              <a:t>A single detector returns a probability but no evidence, and often fails on a new generator, domain or compression level.</a:t>
            </a:r>
          </a:p>
          <a:p>
            <a:pPr marL="246888" indent="-246888">
              <a:spcAft>
                <a:spcPts val="600"/>
              </a:spcAft>
              <a:buFont typeface="Arial"/>
              <a:buChar char="•"/>
            </a:pPr>
            <a:r>
              <a:rPr lang="en-US" sz="1700" b="0" dirty="0">
                <a:solidFill>
                  <a:srgbClr val="1C2530"/>
                </a:solidFill>
                <a:latin typeface="Arial"/>
                <a:cs typeface="Arial"/>
              </a:rPr>
              <a:t>Forensic use needs the evidence examined, how reliable the result is, and a clear signal when a person must decide.</a:t>
            </a:r>
          </a:p>
        </p:txBody>
      </p:sp>
      <p:sp>
        <p:nvSpPr>
          <p:cNvPr id="5" name="Text 5"/>
          <p:cNvSpPr txBox="1"/>
          <p:nvPr/>
        </p:nvSpPr>
        <p:spPr>
          <a:xfrm>
            <a:off x="6400800" y="1051560"/>
            <a:ext cx="50292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WHERE IT APPLIES</a:t>
            </a:r>
          </a:p>
        </p:txBody>
      </p:sp>
      <p:sp>
        <p:nvSpPr>
          <p:cNvPr id="6" name="Text 6"/>
          <p:cNvSpPr txBox="1"/>
          <p:nvPr/>
        </p:nvSpPr>
        <p:spPr>
          <a:xfrm>
            <a:off x="6400800" y="1371600"/>
            <a:ext cx="5120640" cy="320040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700" b="0" dirty="0">
                <a:solidFill>
                  <a:srgbClr val="1C2530"/>
                </a:solidFill>
                <a:latin typeface="Arial"/>
                <a:cs typeface="Arial"/>
              </a:rPr>
              <a:t>Digital evidence screening in cybercrime investigations</a:t>
            </a:r>
          </a:p>
          <a:p>
            <a:pPr marL="246888" indent="-246888">
              <a:spcAft>
                <a:spcPts val="600"/>
              </a:spcAft>
              <a:buFont typeface="Arial"/>
              <a:buChar char="•"/>
            </a:pPr>
            <a:r>
              <a:rPr lang="en-US" sz="1700" b="0" dirty="0">
                <a:solidFill>
                  <a:srgbClr val="1C2530"/>
                </a:solidFill>
                <a:latin typeface="Arial"/>
                <a:cs typeface="Arial"/>
              </a:rPr>
              <a:t>Newsroom and fact-checking workflows</a:t>
            </a:r>
          </a:p>
          <a:p>
            <a:pPr marL="246888" indent="-246888">
              <a:spcAft>
                <a:spcPts val="600"/>
              </a:spcAft>
              <a:buFont typeface="Arial"/>
              <a:buChar char="•"/>
            </a:pPr>
            <a:r>
              <a:rPr lang="en-US" sz="1700" b="0" dirty="0">
                <a:solidFill>
                  <a:srgbClr val="1C2530"/>
                </a:solidFill>
                <a:latin typeface="Arial"/>
                <a:cs typeface="Arial"/>
              </a:rPr>
              <a:t>KYC and identity-fraud checks on facial media</a:t>
            </a:r>
          </a:p>
          <a:p>
            <a:pPr marL="246888" indent="-246888">
              <a:spcAft>
                <a:spcPts val="600"/>
              </a:spcAft>
              <a:buFont typeface="Arial"/>
              <a:buChar char="•"/>
            </a:pPr>
            <a:r>
              <a:rPr lang="en-US" sz="1700" b="0" dirty="0">
                <a:solidFill>
                  <a:srgbClr val="1C2530"/>
                </a:solidFill>
                <a:latin typeface="Arial"/>
                <a:cs typeface="Arial"/>
              </a:rPr>
              <a:t>Enterprise media verification</a:t>
            </a:r>
          </a:p>
          <a:p>
            <a:pPr marL="246888" indent="-246888">
              <a:spcAft>
                <a:spcPts val="600"/>
              </a:spcAft>
              <a:buFont typeface="Arial"/>
              <a:buChar char="•"/>
            </a:pPr>
            <a:r>
              <a:rPr lang="en-US" sz="1700" b="0" dirty="0">
                <a:solidFill>
                  <a:srgbClr val="1C2530"/>
                </a:solidFill>
                <a:latin typeface="Arial"/>
                <a:cs typeface="Arial"/>
              </a:rPr>
              <a:t>Academic and publishing screening of machine-written text</a:t>
            </a:r>
          </a:p>
        </p:txBody>
      </p:sp>
      <p:sp>
        <p:nvSpPr>
          <p:cNvPr id="7" name="Text 7"/>
          <p:cNvSpPr txBox="1"/>
          <p:nvPr/>
        </p:nvSpPr>
        <p:spPr>
          <a:xfrm>
            <a:off x="640080" y="4754880"/>
            <a:ext cx="10881360" cy="1417320"/>
          </a:xfrm>
          <a:prstGeom prst="rect">
            <a:avLst/>
          </a:prstGeom>
          <a:solidFill>
            <a:srgbClr val="EEF4FA"/>
          </a:solidFill>
          <a:ln>
            <a:noFill/>
          </a:ln>
        </p:spPr>
        <p:txBody>
          <a:bodyPr wrap="square" lIns="182880" tIns="182880" rIns="182880" bIns="182880" rtlCol="0" anchor="t">
            <a:noAutofit/>
          </a:bodyPr>
          <a:lstStyle/>
          <a:p>
            <a:pPr>
              <a:spcAft>
                <a:spcPts val="500"/>
              </a:spcAft>
              <a:buNone/>
            </a:pPr>
            <a:r>
              <a:rPr lang="en-US" sz="1200" b="1" dirty="0">
                <a:solidFill>
                  <a:srgbClr val="5E6873"/>
                </a:solidFill>
                <a:latin typeface="Arial"/>
                <a:cs typeface="Arial"/>
              </a:rPr>
              <a:t>PROBLEM STATEMENT</a:t>
            </a:r>
          </a:p>
          <a:p>
            <a:pPr>
              <a:spcAft>
                <a:spcPts val="400"/>
              </a:spcAft>
              <a:buNone/>
            </a:pPr>
            <a:r>
              <a:rPr lang="en-US" sz="1700" b="0" dirty="0">
                <a:solidFill>
                  <a:srgbClr val="1C2530"/>
                </a:solidFill>
                <a:latin typeface="Arial"/>
                <a:cs typeface="Arial"/>
              </a:rPr>
              <a:t>Design an end-to-end framework that examines text and images with complementary tools, combines their outputs in a controlled way, cites retrieved supporting knowledge, and refers doubtful cases to a person.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Introduction: Concepts and Datasets</a:t>
            </a:r>
          </a:p>
        </p:txBody>
      </p:sp>
      <p:sp>
        <p:nvSpPr>
          <p:cNvPr id="3" name="Text 3"/>
          <p:cNvSpPr txBox="1"/>
          <p:nvPr/>
        </p:nvSpPr>
        <p:spPr>
          <a:xfrm>
            <a:off x="640080" y="10515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TECHNICAL CONCEPTS USED</a:t>
            </a:r>
          </a:p>
        </p:txBody>
      </p:sp>
      <p:sp>
        <p:nvSpPr>
          <p:cNvPr id="4" name="Text 4"/>
          <p:cNvSpPr txBox="1"/>
          <p:nvPr/>
        </p:nvSpPr>
        <p:spPr>
          <a:xfrm>
            <a:off x="640080" y="1371600"/>
            <a:ext cx="4937760" cy="475488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500" b="1" dirty="0">
                <a:solidFill>
                  <a:srgbClr val="1C2530"/>
                </a:solidFill>
                <a:latin typeface="Arial"/>
                <a:cs typeface="Arial"/>
              </a:rPr>
              <a:t>Fine-tuned transformer:</a:t>
            </a:r>
            <a:r>
              <a:rPr lang="en-US" sz="1500" b="0" dirty="0">
                <a:solidFill>
                  <a:srgbClr val="1C2530"/>
                </a:solidFill>
                <a:latin typeface="Arial"/>
                <a:cs typeface="Arial"/>
              </a:rPr>
              <a:t> DeBERTa-v3-base text classifier</a:t>
            </a:r>
          </a:p>
          <a:p>
            <a:pPr marL="246888" indent="-246888">
              <a:spcAft>
                <a:spcPts val="600"/>
              </a:spcAft>
              <a:buFont typeface="Arial"/>
              <a:buChar char="•"/>
            </a:pPr>
            <a:r>
              <a:rPr lang="en-US" sz="1500" b="1" dirty="0">
                <a:solidFill>
                  <a:srgbClr val="1C2530"/>
                </a:solidFill>
                <a:latin typeface="Arial"/>
                <a:cs typeface="Arial"/>
              </a:rPr>
              <a:t>Binoculars:</a:t>
            </a:r>
            <a:r>
              <a:rPr lang="en-US" sz="1500" b="0" dirty="0">
                <a:solidFill>
                  <a:srgbClr val="1C2530"/>
                </a:solidFill>
                <a:latin typeface="Arial"/>
                <a:cs typeface="Arial"/>
              </a:rPr>
              <a:t> perplexity ratio of two language models</a:t>
            </a:r>
          </a:p>
          <a:p>
            <a:pPr marL="246888" indent="-246888">
              <a:spcAft>
                <a:spcPts val="600"/>
              </a:spcAft>
              <a:buFont typeface="Arial"/>
              <a:buChar char="•"/>
            </a:pPr>
            <a:r>
              <a:rPr lang="en-US" sz="1500" b="1" dirty="0">
                <a:solidFill>
                  <a:srgbClr val="1C2530"/>
                </a:solidFill>
                <a:latin typeface="Arial"/>
                <a:cs typeface="Arial"/>
              </a:rPr>
              <a:t>CNN with Grad-CAM:</a:t>
            </a:r>
            <a:r>
              <a:rPr lang="en-US" sz="1500" b="0" dirty="0">
                <a:solidFill>
                  <a:srgbClr val="1C2530"/>
                </a:solidFill>
                <a:latin typeface="Arial"/>
                <a:cs typeface="Arial"/>
              </a:rPr>
              <a:t> EfficientNet-B4 face-swap detector</a:t>
            </a:r>
          </a:p>
          <a:p>
            <a:pPr marL="246888" indent="-246888">
              <a:spcAft>
                <a:spcPts val="600"/>
              </a:spcAft>
              <a:buFont typeface="Arial"/>
              <a:buChar char="•"/>
            </a:pPr>
            <a:r>
              <a:rPr lang="en-US" sz="1500" b="1" dirty="0">
                <a:solidFill>
                  <a:srgbClr val="1C2530"/>
                </a:solidFill>
                <a:latin typeface="Arial"/>
                <a:cs typeface="Arial"/>
              </a:rPr>
              <a:t>CLIP linear probes:</a:t>
            </a:r>
            <a:r>
              <a:rPr lang="en-US" sz="1500" b="0" dirty="0">
                <a:solidFill>
                  <a:srgbClr val="1C2530"/>
                </a:solidFill>
                <a:latin typeface="Arial"/>
                <a:cs typeface="Arial"/>
              </a:rPr>
              <a:t> face, general-image and scope guard</a:t>
            </a:r>
          </a:p>
          <a:p>
            <a:pPr marL="246888" indent="-246888">
              <a:spcAft>
                <a:spcPts val="600"/>
              </a:spcAft>
              <a:buFont typeface="Arial"/>
              <a:buChar char="•"/>
            </a:pPr>
            <a:r>
              <a:rPr lang="en-US" sz="1500" b="1" dirty="0">
                <a:solidFill>
                  <a:srgbClr val="1C2530"/>
                </a:solidFill>
                <a:latin typeface="Arial"/>
                <a:cs typeface="Arial"/>
              </a:rPr>
              <a:t>Calibration:</a:t>
            </a:r>
            <a:r>
              <a:rPr lang="en-US" sz="1500" b="0" dirty="0">
                <a:solidFill>
                  <a:srgbClr val="1C2530"/>
                </a:solidFill>
                <a:latin typeface="Arial"/>
                <a:cs typeface="Arial"/>
              </a:rPr>
              <a:t> temperature scaling on a separate split</a:t>
            </a:r>
          </a:p>
          <a:p>
            <a:pPr marL="246888" indent="-246888">
              <a:spcAft>
                <a:spcPts val="600"/>
              </a:spcAft>
              <a:buFont typeface="Arial"/>
              <a:buChar char="•"/>
            </a:pPr>
            <a:r>
              <a:rPr lang="en-US" sz="1500" b="1" dirty="0">
                <a:solidFill>
                  <a:srgbClr val="1C2530"/>
                </a:solidFill>
                <a:latin typeface="Arial"/>
                <a:cs typeface="Arial"/>
              </a:rPr>
              <a:t>RAG:</a:t>
            </a:r>
            <a:r>
              <a:rPr lang="en-US" sz="1500" b="0" dirty="0">
                <a:solidFill>
                  <a:srgbClr val="1C2530"/>
                </a:solidFill>
                <a:latin typeface="Arial"/>
                <a:cs typeface="Arial"/>
              </a:rPr>
              <a:t> ChromaDB with a similarity cut-off and cited sources</a:t>
            </a:r>
          </a:p>
          <a:p>
            <a:pPr marL="246888" indent="-246888">
              <a:spcAft>
                <a:spcPts val="600"/>
              </a:spcAft>
              <a:buFont typeface="Arial"/>
              <a:buChar char="•"/>
            </a:pPr>
            <a:r>
              <a:rPr lang="en-US" sz="1500" b="1" dirty="0">
                <a:solidFill>
                  <a:srgbClr val="1C2530"/>
                </a:solidFill>
                <a:latin typeface="Arial"/>
                <a:cs typeface="Arial"/>
              </a:rPr>
              <a:t>Reflexion:</a:t>
            </a:r>
            <a:r>
              <a:rPr lang="en-US" sz="1500" b="0" dirty="0">
                <a:solidFill>
                  <a:srgbClr val="1C2530"/>
                </a:solidFill>
                <a:latin typeface="Arial"/>
                <a:cs typeface="Arial"/>
              </a:rPr>
              <a:t> one judge re-check when tools disagree</a:t>
            </a:r>
          </a:p>
          <a:p>
            <a:pPr marL="246888" indent="-246888">
              <a:spcAft>
                <a:spcPts val="600"/>
              </a:spcAft>
              <a:buFont typeface="Arial"/>
              <a:buChar char="•"/>
            </a:pPr>
            <a:r>
              <a:rPr lang="en-US" sz="1500" b="1" dirty="0">
                <a:solidFill>
                  <a:srgbClr val="1C2530"/>
                </a:solidFill>
                <a:latin typeface="Arial"/>
                <a:cs typeface="Arial"/>
              </a:rPr>
              <a:t>LangGraph:</a:t>
            </a:r>
            <a:r>
              <a:rPr lang="en-US" sz="1500" b="0" dirty="0">
                <a:solidFill>
                  <a:srgbClr val="1C2530"/>
                </a:solidFill>
                <a:latin typeface="Arial"/>
                <a:cs typeface="Arial"/>
              </a:rPr>
              <a:t> typed-state orchestration</a:t>
            </a:r>
          </a:p>
        </p:txBody>
      </p:sp>
      <p:sp>
        <p:nvSpPr>
          <p:cNvPr id="5" name="Text 5"/>
          <p:cNvSpPr txBox="1"/>
          <p:nvPr/>
        </p:nvSpPr>
        <p:spPr>
          <a:xfrm>
            <a:off x="5943600" y="1051560"/>
            <a:ext cx="54864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DATASETS AND INPUT FORMAT</a:t>
            </a:r>
          </a:p>
        </p:txBody>
      </p:sp>
      <p:graphicFrame>
        <p:nvGraphicFramePr>
          <p:cNvPr id="6" name="Table 6"/>
          <p:cNvGraphicFramePr>
            <a:graphicFrameLocks noGrp="1"/>
          </p:cNvGraphicFramePr>
          <p:nvPr/>
        </p:nvGraphicFramePr>
        <p:xfrm>
          <a:off x="5943600" y="1371600"/>
          <a:ext cx="5532120" cy="2834640"/>
        </p:xfrm>
        <a:graphic>
          <a:graphicData uri="http://schemas.openxmlformats.org/drawingml/2006/table">
            <a:tbl>
              <a:tblPr firstRow="1"/>
              <a:tblGrid>
                <a:gridCol w="1325880"/>
                <a:gridCol w="2148840"/>
                <a:gridCol w="2057400"/>
              </a:tblGrid>
              <a:tr h="566928">
                <a:tc>
                  <a:txBody>
                    <a:bodyPr/>
                    <a:lstStyle/>
                    <a:p>
                      <a:pPr>
                        <a:buNone/>
                      </a:pPr>
                      <a:r>
                        <a:rPr lang="en-US" sz="1300" b="1" dirty="0">
                          <a:solidFill>
                            <a:srgbClr val="1F3A5F"/>
                          </a:solidFill>
                          <a:latin typeface="Arial"/>
                          <a:cs typeface="Arial"/>
                        </a:rPr>
                        <a:t>Modality</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Data</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Use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566928">
                <a:tc>
                  <a:txBody>
                    <a:bodyPr/>
                    <a:lstStyle/>
                    <a:p>
                      <a:pPr>
                        <a:buNone/>
                      </a:pPr>
                      <a:r>
                        <a:rPr lang="en-US" sz="1300" b="0" dirty="0">
                          <a:solidFill>
                            <a:srgbClr val="1C2530"/>
                          </a:solidFill>
                          <a:latin typeface="Arial"/>
                          <a:cs typeface="Arial"/>
                        </a:rPr>
                        <a:t>Text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HC3, MAGE, RAID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136k-row training mix; held-out sets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66928">
                <a:tc>
                  <a:txBody>
                    <a:bodyPr/>
                    <a:lstStyle/>
                    <a:p>
                      <a:pPr>
                        <a:buNone/>
                      </a:pPr>
                      <a:r>
                        <a:rPr lang="en-US" sz="1300" b="0" dirty="0">
                          <a:solidFill>
                            <a:srgbClr val="1C2530"/>
                          </a:solidFill>
                          <a:latin typeface="Arial"/>
                          <a:cs typeface="Arial"/>
                        </a:rPr>
                        <a:t>Face swap</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WildDeepfake, FF++ (C32), Celeb-DF v2</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Training mix; held-out tests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66928">
                <a:tc>
                  <a:txBody>
                    <a:bodyPr/>
                    <a:lstStyle/>
                    <a:p>
                      <a:pPr>
                        <a:buNone/>
                      </a:pPr>
                      <a:r>
                        <a:rPr lang="en-US" sz="1300" b="0" dirty="0">
                          <a:solidFill>
                            <a:srgbClr val="1C2530"/>
                          </a:solidFill>
                          <a:latin typeface="Arial"/>
                          <a:cs typeface="Arial"/>
                        </a:rPr>
                        <a:t>Synthetic faces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GRAVEX-200K, DeepDetect-2025</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CLIP face probe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66928">
                <a:tc>
                  <a:txBody>
                    <a:bodyPr/>
                    <a:lstStyle/>
                    <a:p>
                      <a:pPr>
                        <a:buNone/>
                      </a:pPr>
                      <a:r>
                        <a:rPr lang="en-US" sz="1300" b="0" dirty="0">
                          <a:solidFill>
                            <a:srgbClr val="1C2530"/>
                          </a:solidFill>
                          <a:latin typeface="Arial"/>
                          <a:cs typeface="Arial"/>
                        </a:rPr>
                        <a:t>Art, scenes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DeepDetect, AI-art set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General image probe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
        <p:nvSpPr>
          <p:cNvPr id="7" name="Text 7"/>
          <p:cNvSpPr txBox="1"/>
          <p:nvPr/>
        </p:nvSpPr>
        <p:spPr>
          <a:xfrm>
            <a:off x="5943600" y="4343400"/>
            <a:ext cx="5532120" cy="1737360"/>
          </a:xfrm>
          <a:prstGeom prst="rect">
            <a:avLst/>
          </a:prstGeom>
          <a:noFill/>
          <a:ln>
            <a:noFill/>
          </a:ln>
        </p:spPr>
        <p:txBody>
          <a:bodyPr wrap="square" lIns="0" tIns="0" rIns="0" bIns="0" rtlCol="0" anchor="t">
            <a:noAutofit/>
          </a:bodyPr>
          <a:lstStyle/>
          <a:p>
            <a:pPr>
              <a:spcAft>
                <a:spcPts val="500"/>
              </a:spcAft>
              <a:buNone/>
            </a:pPr>
            <a:r>
              <a:rPr lang="en-US" sz="1400" b="0" dirty="0">
                <a:solidFill>
                  <a:srgbClr val="1C2530"/>
                </a:solidFill>
                <a:latin typeface="Arial"/>
                <a:cs typeface="Arial"/>
              </a:rPr>
              <a:t>Input: UTF-8 text (20 to 20,000 words) or JPEG, PNG, WebP up to 10 MB, checked by content.</a:t>
            </a:r>
          </a:p>
          <a:p>
            <a:pPr>
              <a:spcAft>
                <a:spcPts val="400"/>
              </a:spcAft>
              <a:buNone/>
            </a:pPr>
            <a:r>
              <a:rPr lang="en-US" sz="1400" b="0" dirty="0">
                <a:solidFill>
                  <a:srgbClr val="5E6873"/>
                </a:solidFill>
                <a:latin typeface="Arial"/>
                <a:cs typeface="Arial"/>
              </a:rPr>
              <a:t>Leakage control: text split by source document, images by video; Cohere and the paraphrase, synonym and homoglyph attacks never used in training; Face2Face and FaceShifter are the zero-shot test.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Literature Review: Related Work</a:t>
            </a:r>
          </a:p>
        </p:txBody>
      </p:sp>
      <p:graphicFrame>
        <p:nvGraphicFramePr>
          <p:cNvPr id="3" name="Table 3"/>
          <p:cNvGraphicFramePr>
            <a:graphicFrameLocks noGrp="1"/>
          </p:cNvGraphicFramePr>
          <p:nvPr/>
        </p:nvGraphicFramePr>
        <p:xfrm>
          <a:off x="548640" y="1097280"/>
          <a:ext cx="11247119" cy="4224528"/>
        </p:xfrm>
        <a:graphic>
          <a:graphicData uri="http://schemas.openxmlformats.org/drawingml/2006/table">
            <a:tbl>
              <a:tblPr firstRow="1"/>
              <a:tblGrid>
                <a:gridCol w="2103120"/>
                <a:gridCol w="1097280"/>
                <a:gridCol w="4206240"/>
                <a:gridCol w="3840480"/>
              </a:tblGrid>
              <a:tr h="603504">
                <a:tc>
                  <a:txBody>
                    <a:bodyPr/>
                    <a:lstStyle/>
                    <a:p>
                      <a:pPr>
                        <a:buNone/>
                      </a:pPr>
                      <a:r>
                        <a:rPr lang="en-US" sz="1300" b="1" dirty="0">
                          <a:solidFill>
                            <a:srgbClr val="1F3A5F"/>
                          </a:solidFill>
                          <a:latin typeface="Arial"/>
                          <a:cs typeface="Arial"/>
                        </a:rPr>
                        <a:t>Work</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Area</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Contribution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Limitation or gap</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603504">
                <a:tc>
                  <a:txBody>
                    <a:bodyPr/>
                    <a:lstStyle/>
                    <a:p>
                      <a:pPr>
                        <a:buNone/>
                      </a:pPr>
                      <a:r>
                        <a:rPr lang="en-US" sz="1300" b="0" dirty="0">
                          <a:solidFill>
                            <a:srgbClr val="1C2530"/>
                          </a:solidFill>
                          <a:latin typeface="Arial"/>
                          <a:cs typeface="Arial"/>
                        </a:rPr>
                        <a:t>Dugan et al. (RAID), 2024</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Text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Robustness benchmark: 11 generators, 8 domains, 11 attacks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In-domain accuracy alone is insufficient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03504">
                <a:tc>
                  <a:txBody>
                    <a:bodyPr/>
                    <a:lstStyle/>
                    <a:p>
                      <a:pPr>
                        <a:buNone/>
                      </a:pPr>
                      <a:r>
                        <a:rPr lang="en-US" sz="1300" b="0" dirty="0">
                          <a:solidFill>
                            <a:srgbClr val="1C2530"/>
                          </a:solidFill>
                          <a:latin typeface="Arial"/>
                          <a:cs typeface="Arial"/>
                        </a:rPr>
                        <a:t>Hans et al. (Binoculars), 2024</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Text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Zero-shot detection with two language models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Varies with generator and domain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03504">
                <a:tc>
                  <a:txBody>
                    <a:bodyPr/>
                    <a:lstStyle/>
                    <a:p>
                      <a:pPr>
                        <a:buNone/>
                      </a:pPr>
                      <a:r>
                        <a:rPr lang="en-US" sz="1300" b="0" dirty="0">
                          <a:solidFill>
                            <a:srgbClr val="1C2530"/>
                          </a:solidFill>
                          <a:latin typeface="Arial"/>
                          <a:cs typeface="Arial"/>
                        </a:rPr>
                        <a:t>Rossler et al. (FF++), 2019</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Image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Controlled facial-manipulation benchmark</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Depends on method and compression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03504">
                <a:tc>
                  <a:txBody>
                    <a:bodyPr/>
                    <a:lstStyle/>
                    <a:p>
                      <a:pPr>
                        <a:buNone/>
                      </a:pPr>
                      <a:r>
                        <a:rPr lang="en-US" sz="1300" b="0" dirty="0">
                          <a:solidFill>
                            <a:srgbClr val="1C2530"/>
                          </a:solidFill>
                          <a:latin typeface="Arial"/>
                          <a:cs typeface="Arial"/>
                        </a:rPr>
                        <a:t>Zi et al. (WildDeepfake), 2020</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Image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Real-world, in-the-wild deepfake data</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Detection only, no evidence reasoning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03504">
                <a:tc>
                  <a:txBody>
                    <a:bodyPr/>
                    <a:lstStyle/>
                    <a:p>
                      <a:pPr>
                        <a:buNone/>
                      </a:pPr>
                      <a:r>
                        <a:rPr lang="en-US" sz="1300" b="0" dirty="0">
                          <a:solidFill>
                            <a:srgbClr val="1C2530"/>
                          </a:solidFill>
                          <a:latin typeface="Arial"/>
                          <a:cs typeface="Arial"/>
                        </a:rPr>
                        <a:t>Lewis et al. (RAG), 2020</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RAG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Retrieval gives explicit external knowledge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Output quality follows retrieval quality</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03504">
                <a:tc>
                  <a:txBody>
                    <a:bodyPr/>
                    <a:lstStyle/>
                    <a:p>
                      <a:pPr>
                        <a:buNone/>
                      </a:pPr>
                      <a:r>
                        <a:rPr lang="en-US" sz="1300" b="0" dirty="0">
                          <a:solidFill>
                            <a:srgbClr val="1C2530"/>
                          </a:solidFill>
                          <a:latin typeface="Arial"/>
                          <a:cs typeface="Arial"/>
                        </a:rPr>
                        <a:t>Zhang et al. (ForenAgent), 2026</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Agentic</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Iterative tool use for forgery analysis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Latency and reliability are open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Literature Review: Inference and Gap</a:t>
            </a:r>
          </a:p>
        </p:txBody>
      </p:sp>
      <p:sp>
        <p:nvSpPr>
          <p:cNvPr id="3" name="Text 3"/>
          <p:cNvSpPr txBox="1"/>
          <p:nvPr/>
        </p:nvSpPr>
        <p:spPr>
          <a:xfrm>
            <a:off x="640080" y="1051560"/>
            <a:ext cx="54864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INFERENCE FROM THE LITERATURE</a:t>
            </a:r>
          </a:p>
        </p:txBody>
      </p:sp>
      <p:sp>
        <p:nvSpPr>
          <p:cNvPr id="4" name="Text 4"/>
          <p:cNvSpPr txBox="1"/>
          <p:nvPr/>
        </p:nvSpPr>
        <p:spPr>
          <a:xfrm>
            <a:off x="640080" y="1371600"/>
            <a:ext cx="5577840" cy="301752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600" b="1" dirty="0">
                <a:solidFill>
                  <a:srgbClr val="1C2530"/>
                </a:solidFill>
                <a:latin typeface="Arial"/>
                <a:cs typeface="Arial"/>
              </a:rPr>
              <a:t>Performance is distribution-dependent.</a:t>
            </a:r>
            <a:r>
              <a:rPr lang="en-US" sz="1600" b="0" dirty="0">
                <a:solidFill>
                  <a:srgbClr val="1C2530"/>
                </a:solidFill>
                <a:latin typeface="Arial"/>
                <a:cs typeface="Arial"/>
              </a:rPr>
              <a:t> Unseen generators, attacks and compression lower accuracy.</a:t>
            </a:r>
          </a:p>
          <a:p>
            <a:pPr marL="246888" indent="-246888">
              <a:spcAft>
                <a:spcPts val="600"/>
              </a:spcAft>
              <a:buFont typeface="Arial"/>
              <a:buChar char="•"/>
            </a:pPr>
            <a:r>
              <a:rPr lang="en-US" sz="1600" b="1" dirty="0">
                <a:solidFill>
                  <a:srgbClr val="1C2530"/>
                </a:solidFill>
                <a:latin typeface="Arial"/>
                <a:cs typeface="Arial"/>
              </a:rPr>
              <a:t>Signals are complementary.</a:t>
            </a:r>
            <a:r>
              <a:rPr lang="en-US" sz="1600" b="0" dirty="0">
                <a:solidFill>
                  <a:srgbClr val="1C2530"/>
                </a:solidFill>
                <a:latin typeface="Arial"/>
                <a:cs typeface="Arial"/>
              </a:rPr>
              <a:t> Statistical, learned and semantic evidence fail in different places.</a:t>
            </a:r>
          </a:p>
          <a:p>
            <a:pPr marL="246888" indent="-246888">
              <a:spcAft>
                <a:spcPts val="600"/>
              </a:spcAft>
              <a:buFont typeface="Arial"/>
              <a:buChar char="•"/>
            </a:pPr>
            <a:r>
              <a:rPr lang="en-US" sz="1600" b="1" dirty="0">
                <a:solidFill>
                  <a:srgbClr val="1C2530"/>
                </a:solidFill>
                <a:latin typeface="Arial"/>
                <a:cs typeface="Arial"/>
              </a:rPr>
              <a:t>Explanation must be tied to evidence.</a:t>
            </a:r>
            <a:r>
              <a:rPr lang="en-US" sz="1600" b="0" dirty="0">
                <a:solidFill>
                  <a:srgbClr val="1C2530"/>
                </a:solidFill>
                <a:latin typeface="Arial"/>
                <a:cs typeface="Arial"/>
              </a:rPr>
              <a:t> Retrieval helps, but scores and uncertainty must stay visible.</a:t>
            </a:r>
          </a:p>
        </p:txBody>
      </p:sp>
      <p:sp>
        <p:nvSpPr>
          <p:cNvPr id="5" name="Text 5"/>
          <p:cNvSpPr txBox="1"/>
          <p:nvPr/>
        </p:nvSpPr>
        <p:spPr>
          <a:xfrm>
            <a:off x="640080" y="4572000"/>
            <a:ext cx="5577840" cy="1554480"/>
          </a:xfrm>
          <a:prstGeom prst="rect">
            <a:avLst/>
          </a:prstGeom>
          <a:solidFill>
            <a:srgbClr val="EEF4FA"/>
          </a:solidFill>
          <a:ln>
            <a:noFill/>
          </a:ln>
        </p:spPr>
        <p:txBody>
          <a:bodyPr wrap="square" lIns="182880" tIns="182880" rIns="182880" bIns="182880" rtlCol="0" anchor="t">
            <a:noAutofit/>
          </a:bodyPr>
          <a:lstStyle/>
          <a:p>
            <a:pPr>
              <a:spcAft>
                <a:spcPts val="400"/>
              </a:spcAft>
              <a:buNone/>
            </a:pPr>
            <a:r>
              <a:rPr lang="en-US" sz="1200" b="1" dirty="0">
                <a:solidFill>
                  <a:srgbClr val="5E6873"/>
                </a:solidFill>
                <a:latin typeface="Arial"/>
                <a:cs typeface="Arial"/>
              </a:rPr>
              <a:t>RESEARCH GAP</a:t>
            </a:r>
          </a:p>
          <a:p>
            <a:pPr>
              <a:spcAft>
                <a:spcPts val="400"/>
              </a:spcAft>
              <a:buNone/>
            </a:pPr>
            <a:r>
              <a:rPr lang="en-US" sz="1500" b="0" dirty="0">
                <a:solidFill>
                  <a:srgbClr val="1C2530"/>
                </a:solidFill>
                <a:latin typeface="Arial"/>
                <a:cs typeface="Arial"/>
              </a:rPr>
              <a:t>No unified text-and-image workflow that combines tools, grounds the result in retrieved knowledge and verifies disagreement before reporting.</a:t>
            </a:r>
          </a:p>
        </p:txBody>
      </p:sp>
      <p:sp>
        <p:nvSpPr>
          <p:cNvPr id="6" name="Text 6"/>
          <p:cNvSpPr txBox="1"/>
          <p:nvPr/>
        </p:nvSpPr>
        <p:spPr>
          <a:xfrm>
            <a:off x="6675120" y="10515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SEEN IN OUR OWN FIRST MODELS</a:t>
            </a:r>
          </a:p>
        </p:txBody>
      </p:sp>
      <p:sp>
        <p:nvSpPr>
          <p:cNvPr id="7" name="Text 7"/>
          <p:cNvSpPr txBox="1"/>
          <p:nvPr/>
        </p:nvSpPr>
        <p:spPr>
          <a:xfrm>
            <a:off x="6675120" y="1417320"/>
            <a:ext cx="2377440"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0.66</a:t>
            </a:r>
          </a:p>
        </p:txBody>
      </p:sp>
      <p:sp>
        <p:nvSpPr>
          <p:cNvPr id="8" name="Text 8"/>
          <p:cNvSpPr txBox="1"/>
          <p:nvPr/>
        </p:nvSpPr>
        <p:spPr>
          <a:xfrm>
            <a:off x="6675120" y="2075688"/>
            <a:ext cx="2377440"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text AUROC on MAGE, after 1.00 on HC3</a:t>
            </a:r>
          </a:p>
        </p:txBody>
      </p:sp>
      <p:sp>
        <p:nvSpPr>
          <p:cNvPr id="9" name="Text 9"/>
          <p:cNvSpPr txBox="1"/>
          <p:nvPr/>
        </p:nvSpPr>
        <p:spPr>
          <a:xfrm>
            <a:off x="9326880" y="1417320"/>
            <a:ext cx="2377440"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0.52</a:t>
            </a:r>
          </a:p>
        </p:txBody>
      </p:sp>
      <p:sp>
        <p:nvSpPr>
          <p:cNvPr id="10" name="Text 10"/>
          <p:cNvSpPr txBox="1"/>
          <p:nvPr/>
        </p:nvSpPr>
        <p:spPr>
          <a:xfrm>
            <a:off x="9326880" y="2075688"/>
            <a:ext cx="2377440"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image AUROC on FF++ (chance), after 0.97 on WildDeepfake</a:t>
            </a:r>
          </a:p>
        </p:txBody>
      </p:sp>
      <p:sp>
        <p:nvSpPr>
          <p:cNvPr id="11" name="Text 11"/>
          <p:cNvSpPr txBox="1"/>
          <p:nvPr/>
        </p:nvSpPr>
        <p:spPr>
          <a:xfrm>
            <a:off x="6675120" y="338328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SWOT</a:t>
            </a:r>
          </a:p>
        </p:txBody>
      </p:sp>
      <p:graphicFrame>
        <p:nvGraphicFramePr>
          <p:cNvPr id="12" name="Table 12"/>
          <p:cNvGraphicFramePr>
            <a:graphicFrameLocks noGrp="1"/>
          </p:cNvGraphicFramePr>
          <p:nvPr/>
        </p:nvGraphicFramePr>
        <p:xfrm>
          <a:off x="6675120" y="3703320"/>
          <a:ext cx="5029200" cy="2194560"/>
        </p:xfrm>
        <a:graphic>
          <a:graphicData uri="http://schemas.openxmlformats.org/drawingml/2006/table">
            <a:tbl>
              <a:tblPr firstRow="1"/>
              <a:tblGrid>
                <a:gridCol w="2514600"/>
                <a:gridCol w="2514600"/>
              </a:tblGrid>
              <a:tr h="548640">
                <a:tc>
                  <a:txBody>
                    <a:bodyPr/>
                    <a:lstStyle/>
                    <a:p>
                      <a:pPr>
                        <a:buNone/>
                      </a:pPr>
                      <a:r>
                        <a:rPr lang="en-US" sz="1200" b="1" dirty="0">
                          <a:solidFill>
                            <a:srgbClr val="1F3A5F"/>
                          </a:solidFill>
                          <a:latin typeface="Arial"/>
                          <a:cs typeface="Arial"/>
                        </a:rPr>
                        <a:t>Strengths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200" b="1" dirty="0">
                          <a:solidFill>
                            <a:srgbClr val="1F3A5F"/>
                          </a:solidFill>
                          <a:latin typeface="Arial"/>
                          <a:cs typeface="Arial"/>
                        </a:rPr>
                        <a:t>Weaknesses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548640">
                <a:tc>
                  <a:txBody>
                    <a:bodyPr/>
                    <a:lstStyle/>
                    <a:p>
                      <a:pPr>
                        <a:buNone/>
                      </a:pPr>
                      <a:r>
                        <a:rPr lang="en-US" sz="1200" b="0" dirty="0">
                          <a:solidFill>
                            <a:srgbClr val="1C2530"/>
                          </a:solidFill>
                          <a:latin typeface="Arial"/>
                          <a:cs typeface="Arial"/>
                        </a:rPr>
                        <a:t>Multi-signal, modular, explainable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200" b="0" dirty="0">
                          <a:solidFill>
                            <a:srgbClr val="1C2530"/>
                          </a:solidFill>
                          <a:latin typeface="Arial"/>
                          <a:cs typeface="Arial"/>
                        </a:rPr>
                        <a:t>Latency; calibration effort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48640">
                <a:tc>
                  <a:txBody>
                    <a:bodyPr/>
                    <a:lstStyle/>
                    <a:p>
                      <a:pPr>
                        <a:buNone/>
                      </a:pPr>
                      <a:r>
                        <a:rPr lang="en-US" sz="1200" b="0" dirty="0">
                          <a:solidFill>
                            <a:srgbClr val="1C2530"/>
                          </a:solidFill>
                          <a:latin typeface="Arial"/>
                          <a:cs typeface="Arial"/>
                        </a:rPr>
                        <a:t>Opportunities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200" b="0" dirty="0">
                          <a:solidFill>
                            <a:srgbClr val="1C2530"/>
                          </a:solidFill>
                          <a:latin typeface="Arial"/>
                          <a:cs typeface="Arial"/>
                        </a:rPr>
                        <a:t>Threats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48640">
                <a:tc>
                  <a:txBody>
                    <a:bodyPr/>
                    <a:lstStyle/>
                    <a:p>
                      <a:pPr>
                        <a:buNone/>
                      </a:pPr>
                      <a:r>
                        <a:rPr lang="en-US" sz="1200" b="0" dirty="0">
                          <a:solidFill>
                            <a:srgbClr val="1C2530"/>
                          </a:solidFill>
                          <a:latin typeface="Arial"/>
                          <a:cs typeface="Arial"/>
                        </a:rPr>
                        <a:t>Video, provenance, watermarking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200" b="0" dirty="0">
                          <a:solidFill>
                            <a:srgbClr val="1C2530"/>
                          </a:solidFill>
                          <a:latin typeface="Arial"/>
                          <a:cs typeface="Arial"/>
                        </a:rPr>
                        <a:t>New generators; evasion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Objective</a:t>
            </a:r>
          </a:p>
        </p:txBody>
      </p:sp>
      <p:sp>
        <p:nvSpPr>
          <p:cNvPr id="3" name="Text 3"/>
          <p:cNvSpPr txBox="1"/>
          <p:nvPr/>
        </p:nvSpPr>
        <p:spPr>
          <a:xfrm>
            <a:off x="640080" y="1051560"/>
            <a:ext cx="10881360" cy="914400"/>
          </a:xfrm>
          <a:prstGeom prst="rect">
            <a:avLst/>
          </a:prstGeom>
          <a:solidFill>
            <a:srgbClr val="EEF4FA"/>
          </a:solidFill>
          <a:ln>
            <a:noFill/>
          </a:ln>
        </p:spPr>
        <p:txBody>
          <a:bodyPr wrap="square" lIns="164592" tIns="164592" rIns="164592" bIns="164592" rtlCol="0" anchor="t">
            <a:noAutofit/>
          </a:bodyPr>
          <a:lstStyle/>
          <a:p>
            <a:pPr>
              <a:spcAft>
                <a:spcPts val="300"/>
              </a:spcAft>
              <a:buNone/>
            </a:pPr>
            <a:r>
              <a:rPr lang="en-US" sz="1200" b="1" dirty="0">
                <a:solidFill>
                  <a:srgbClr val="5E6873"/>
                </a:solidFill>
                <a:latin typeface="Arial"/>
                <a:cs typeface="Arial"/>
              </a:rPr>
              <a:t>MAIN OBJECTIVE</a:t>
            </a:r>
          </a:p>
          <a:p>
            <a:pPr>
              <a:spcAft>
                <a:spcPts val="400"/>
              </a:spcAft>
              <a:buNone/>
            </a:pPr>
            <a:r>
              <a:rPr lang="en-US" sz="1600" b="0" dirty="0">
                <a:solidFill>
                  <a:srgbClr val="1C2530"/>
                </a:solidFill>
                <a:latin typeface="Arial"/>
                <a:cs typeface="Arial"/>
              </a:rPr>
              <a:t>Develop an Agentic AI and RAG-based framework that detects AI-generated or manipulated text and images with complementary tools and produces explainable, evidence-grounded, confidence-aware reports.</a:t>
            </a:r>
          </a:p>
        </p:txBody>
      </p:sp>
      <p:graphicFrame>
        <p:nvGraphicFramePr>
          <p:cNvPr id="4" name="Table 4"/>
          <p:cNvGraphicFramePr>
            <a:graphicFrameLocks noGrp="1"/>
          </p:cNvGraphicFramePr>
          <p:nvPr/>
        </p:nvGraphicFramePr>
        <p:xfrm>
          <a:off x="640080" y="2194560"/>
          <a:ext cx="10881359" cy="3657600"/>
        </p:xfrm>
        <a:graphic>
          <a:graphicData uri="http://schemas.openxmlformats.org/drawingml/2006/table">
            <a:tbl>
              <a:tblPr firstRow="1"/>
              <a:tblGrid>
                <a:gridCol w="457200"/>
                <a:gridCol w="3931920"/>
                <a:gridCol w="1828800"/>
                <a:gridCol w="4663440"/>
              </a:tblGrid>
              <a:tr h="457200">
                <a:tc>
                  <a:txBody>
                    <a:bodyPr/>
                    <a:lstStyle/>
                    <a:p>
                      <a:pPr>
                        <a:buNone/>
                      </a:pPr>
                      <a:r>
                        <a:rPr lang="en-US" sz="1400" b="1" dirty="0">
                          <a:solidFill>
                            <a:srgbClr val="1F3A5F"/>
                          </a:solidFill>
                          <a:latin typeface="Arial"/>
                          <a:cs typeface="Arial"/>
                        </a:rPr>
                        <a:t>No.</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400" b="1" dirty="0">
                          <a:solidFill>
                            <a:srgbClr val="1F3A5F"/>
                          </a:solidFill>
                          <a:latin typeface="Arial"/>
                          <a:cs typeface="Arial"/>
                        </a:rPr>
                        <a:t>Sub-objective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400" b="1" dirty="0">
                          <a:solidFill>
                            <a:srgbClr val="1F3A5F"/>
                          </a:solidFill>
                          <a:latin typeface="Arial"/>
                          <a:cs typeface="Arial"/>
                        </a:rPr>
                        <a:t>Status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400" b="1" dirty="0">
                          <a:solidFill>
                            <a:srgbClr val="1F3A5F"/>
                          </a:solidFill>
                          <a:latin typeface="Arial"/>
                          <a:cs typeface="Arial"/>
                        </a:rPr>
                        <a:t>Basis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457200">
                <a:tc>
                  <a:txBody>
                    <a:bodyPr/>
                    <a:lstStyle/>
                    <a:p>
                      <a:pPr>
                        <a:buNone/>
                      </a:pPr>
                      <a:r>
                        <a:rPr lang="en-US" sz="1400" b="0" dirty="0">
                          <a:solidFill>
                            <a:srgbClr val="1C2530"/>
                          </a:solidFill>
                          <a:latin typeface="Arial"/>
                          <a:cs typeface="Arial"/>
                        </a:rPr>
                        <a:t>1</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Multi-signal text detector</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 modified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DeBERTa-v3, Binoculars, LLM judge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2</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Image forensics pipeline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 modified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EfficientNet-B4, CLIP probes, scope guard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3</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LangGraph orchestrator</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Routing, verifier loop, Reflexion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4</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Shared RAG knowledge base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Literature, generator profiles, case memory</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5</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Verifier and escalation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Calibrated fusion, human referral</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6</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Evaluation and ablations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Partly 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9 held-out sets; judge rows pending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457200">
                <a:tc>
                  <a:txBody>
                    <a:bodyPr/>
                    <a:lstStyle/>
                    <a:p>
                      <a:pPr>
                        <a:buNone/>
                      </a:pPr>
                      <a:r>
                        <a:rPr lang="en-US" sz="1400" b="0" dirty="0">
                          <a:solidFill>
                            <a:srgbClr val="1C2530"/>
                          </a:solidFill>
                          <a:latin typeface="Arial"/>
                          <a:cs typeface="Arial"/>
                        </a:rPr>
                        <a:t>7</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Prototype and deployment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Done, modified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FastAPI, web interface, Docker, CI</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Methodology</a:t>
            </a:r>
          </a:p>
        </p:txBody>
      </p:sp>
      <p:sp>
        <p:nvSpPr>
          <p:cNvPr id="3" name="Text 3"/>
          <p:cNvSpPr txBox="1"/>
          <p:nvPr/>
        </p:nvSpPr>
        <p:spPr>
          <a:xfrm>
            <a:off x="640080" y="1051560"/>
            <a:ext cx="4846320" cy="1143000"/>
          </a:xfrm>
          <a:prstGeom prst="rect">
            <a:avLst/>
          </a:prstGeom>
          <a:solidFill>
            <a:srgbClr val="EEF4FA"/>
          </a:solidFill>
          <a:ln>
            <a:noFill/>
          </a:ln>
        </p:spPr>
        <p:txBody>
          <a:bodyPr wrap="square" lIns="164592" tIns="164592" rIns="164592" bIns="164592" rtlCol="0" anchor="t">
            <a:noAutofit/>
          </a:bodyPr>
          <a:lstStyle/>
          <a:p>
            <a:pPr>
              <a:spcAft>
                <a:spcPts val="300"/>
              </a:spcAft>
              <a:buNone/>
            </a:pPr>
            <a:r>
              <a:rPr lang="en-US" sz="1200" b="1" dirty="0">
                <a:solidFill>
                  <a:srgbClr val="5E6873"/>
                </a:solidFill>
                <a:latin typeface="Arial"/>
                <a:cs typeface="Arial"/>
              </a:rPr>
              <a:t>REFERENCE MODEL</a:t>
            </a:r>
          </a:p>
          <a:p>
            <a:pPr>
              <a:spcAft>
                <a:spcPts val="400"/>
              </a:spcAft>
              <a:buNone/>
            </a:pPr>
            <a:r>
              <a:rPr lang="en-US" sz="1500" b="0" dirty="0">
                <a:solidFill>
                  <a:srgbClr val="1C2530"/>
                </a:solidFill>
                <a:latin typeface="Arial"/>
                <a:cs typeface="Arial"/>
              </a:rPr>
              <a:t>Iterative, evaluation-driven development with frozen thresholds and untouched test sets.</a:t>
            </a:r>
          </a:p>
        </p:txBody>
      </p:sp>
      <p:sp>
        <p:nvSpPr>
          <p:cNvPr id="4" name="Text 4"/>
          <p:cNvSpPr txBox="1"/>
          <p:nvPr/>
        </p:nvSpPr>
        <p:spPr>
          <a:xfrm>
            <a:off x="640080" y="24231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STEPS</a:t>
            </a:r>
          </a:p>
        </p:txBody>
      </p:sp>
      <p:sp>
        <p:nvSpPr>
          <p:cNvPr id="5" name="Text 5"/>
          <p:cNvSpPr txBox="1"/>
          <p:nvPr/>
        </p:nvSpPr>
        <p:spPr>
          <a:xfrm>
            <a:off x="640080" y="2743200"/>
            <a:ext cx="4846320" cy="347472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500" b="0" dirty="0">
                <a:solidFill>
                  <a:srgbClr val="1C2530"/>
                </a:solidFill>
                <a:latin typeface="Arial"/>
                <a:cs typeface="Arial"/>
              </a:rPr>
              <a:t>Prepare data with leakage checks</a:t>
            </a:r>
          </a:p>
          <a:p>
            <a:pPr marL="246888" indent="-246888">
              <a:spcAft>
                <a:spcPts val="600"/>
              </a:spcAft>
              <a:buFont typeface="Arial"/>
              <a:buChar char="•"/>
            </a:pPr>
            <a:r>
              <a:rPr lang="en-US" sz="1500" b="0" dirty="0">
                <a:solidFill>
                  <a:srgbClr val="1C2530"/>
                </a:solidFill>
                <a:latin typeface="Arial"/>
                <a:cs typeface="Arial"/>
              </a:rPr>
              <a:t>Train each tool with early stopping</a:t>
            </a:r>
          </a:p>
          <a:p>
            <a:pPr marL="246888" indent="-246888">
              <a:spcAft>
                <a:spcPts val="600"/>
              </a:spcAft>
              <a:buFont typeface="Arial"/>
              <a:buChar char="•"/>
            </a:pPr>
            <a:r>
              <a:rPr lang="en-US" sz="1500" b="0" dirty="0">
                <a:solidFill>
                  <a:srgbClr val="1C2530"/>
                </a:solidFill>
                <a:latin typeface="Arial"/>
                <a:cs typeface="Arial"/>
              </a:rPr>
              <a:t>Calibrate on a separate split</a:t>
            </a:r>
          </a:p>
          <a:p>
            <a:pPr marL="246888" indent="-246888">
              <a:spcAft>
                <a:spcPts val="600"/>
              </a:spcAft>
              <a:buFont typeface="Arial"/>
              <a:buChar char="•"/>
            </a:pPr>
            <a:r>
              <a:rPr lang="en-US" sz="1500" b="0" dirty="0">
                <a:solidFill>
                  <a:srgbClr val="1C2530"/>
                </a:solidFill>
                <a:latin typeface="Arial"/>
                <a:cs typeface="Arial"/>
              </a:rPr>
              <a:t>Orchestrate, fuse and verify</a:t>
            </a:r>
          </a:p>
          <a:p>
            <a:pPr marL="246888" indent="-246888">
              <a:spcAft>
                <a:spcPts val="600"/>
              </a:spcAft>
              <a:buFont typeface="Arial"/>
              <a:buChar char="•"/>
            </a:pPr>
            <a:r>
              <a:rPr lang="en-US" sz="1500" b="0" dirty="0">
                <a:solidFill>
                  <a:srgbClr val="1C2530"/>
                </a:solidFill>
                <a:latin typeface="Arial"/>
                <a:cs typeface="Arial"/>
              </a:rPr>
              <a:t>Serve through API and web interface</a:t>
            </a:r>
          </a:p>
          <a:p>
            <a:pPr marL="246888" indent="-246888">
              <a:spcAft>
                <a:spcPts val="600"/>
              </a:spcAft>
              <a:buFont typeface="Arial"/>
              <a:buChar char="•"/>
            </a:pPr>
            <a:r>
              <a:rPr lang="en-US" sz="1500" b="0" dirty="0">
                <a:solidFill>
                  <a:srgbClr val="1C2530"/>
                </a:solidFill>
                <a:latin typeface="Arial"/>
                <a:cs typeface="Arial"/>
              </a:rPr>
              <a:t>Evaluate on held-out data; diagnose; fix</a:t>
            </a:r>
          </a:p>
        </p:txBody>
      </p:sp>
      <p:sp>
        <p:nvSpPr>
          <p:cNvPr id="6" name="Text 6"/>
          <p:cNvSpPr txBox="1"/>
          <p:nvPr/>
        </p:nvSpPr>
        <p:spPr>
          <a:xfrm>
            <a:off x="5852160" y="10515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TIMELINE AND DELIVERABLES</a:t>
            </a:r>
          </a:p>
        </p:txBody>
      </p:sp>
      <p:graphicFrame>
        <p:nvGraphicFramePr>
          <p:cNvPr id="7" name="Table 7"/>
          <p:cNvGraphicFramePr>
            <a:graphicFrameLocks noGrp="1"/>
          </p:cNvGraphicFramePr>
          <p:nvPr/>
        </p:nvGraphicFramePr>
        <p:xfrm>
          <a:off x="5852160" y="1371600"/>
          <a:ext cx="5623560" cy="4242816"/>
        </p:xfrm>
        <a:graphic>
          <a:graphicData uri="http://schemas.openxmlformats.org/drawingml/2006/table">
            <a:tbl>
              <a:tblPr firstRow="1"/>
              <a:tblGrid>
                <a:gridCol w="502920"/>
                <a:gridCol w="2148840"/>
                <a:gridCol w="1874519"/>
                <a:gridCol w="1097280"/>
              </a:tblGrid>
              <a:tr h="530352">
                <a:tc>
                  <a:txBody>
                    <a:bodyPr/>
                    <a:lstStyle/>
                    <a:p>
                      <a:pPr>
                        <a:buNone/>
                      </a:pPr>
                      <a:r>
                        <a:rPr lang="en-US" sz="1300" b="1" dirty="0">
                          <a:solidFill>
                            <a:srgbClr val="1F3A5F"/>
                          </a:solidFill>
                          <a:latin typeface="Arial"/>
                          <a:cs typeface="Arial"/>
                        </a:rPr>
                        <a:t>Ph.</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Task</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Deliverable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Status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530352">
                <a:tc>
                  <a:txBody>
                    <a:bodyPr/>
                    <a:lstStyle/>
                    <a:p>
                      <a:pPr>
                        <a:buNone/>
                      </a:pPr>
                      <a:r>
                        <a:rPr lang="en-US" sz="1300" b="0" dirty="0">
                          <a:solidFill>
                            <a:srgbClr val="1C2530"/>
                          </a:solidFill>
                          <a:latin typeface="Arial"/>
                          <a:cs typeface="Arial"/>
                        </a:rPr>
                        <a:t>A</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Literature, architecture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Gap analysis, state schema</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B</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Text models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Classifier, probe, judge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C</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Image models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CNN, CLIP, scope guard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Orchestration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Routing, fusion, Reflexion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RAG and verifier</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Knowledge base, citations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F</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Interface, evidence store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Web UI, audit records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Done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530352">
                <a:tc>
                  <a:txBody>
                    <a:bodyPr/>
                    <a:lstStyle/>
                    <a:p>
                      <a:pPr>
                        <a:buNone/>
                      </a:pPr>
                      <a:r>
                        <a:rPr lang="en-US" sz="1300" b="0" dirty="0">
                          <a:solidFill>
                            <a:srgbClr val="1C2530"/>
                          </a:solidFill>
                          <a:latin typeface="Arial"/>
                          <a:cs typeface="Arial"/>
                        </a:rPr>
                        <a:t>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Evaluation, report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Ablations, report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In progress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Working Model: Architecture</a:t>
            </a:r>
          </a:p>
        </p:txBody>
      </p:sp>
      <p:pic>
        <p:nvPicPr>
          <p:cNvPr id="3" name="Picture 3" descr="System architecture"/>
          <p:cNvPicPr>
            <a:picLocks noChangeAspect="1"/>
          </p:cNvPicPr>
          <p:nvPr/>
        </p:nvPicPr>
        <p:blipFill>
          <a:blip r:embed="rId10"/>
          <a:stretch>
            <a:fillRect/>
          </a:stretch>
        </p:blipFill>
        <p:spPr>
          <a:xfrm>
            <a:off x="502920" y="1234440"/>
            <a:ext cx="6949440" cy="3592203"/>
          </a:xfrm>
          <a:prstGeom prst="rect">
            <a:avLst/>
          </a:prstGeom>
          <a:ln w="9525">
            <a:solidFill>
              <a:srgbClr val="C9D3DE"/>
            </a:solidFill>
          </a:ln>
        </p:spPr>
      </p:pic>
      <p:sp>
        <p:nvSpPr>
          <p:cNvPr id="4" name="Text 4"/>
          <p:cNvSpPr txBox="1"/>
          <p:nvPr/>
        </p:nvSpPr>
        <p:spPr>
          <a:xfrm>
            <a:off x="7772400" y="1051560"/>
            <a:ext cx="36576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REQUIREMENTS</a:t>
            </a:r>
          </a:p>
        </p:txBody>
      </p:sp>
      <p:sp>
        <p:nvSpPr>
          <p:cNvPr id="5" name="Text 5"/>
          <p:cNvSpPr txBox="1"/>
          <p:nvPr/>
        </p:nvSpPr>
        <p:spPr>
          <a:xfrm>
            <a:off x="7772400" y="1371600"/>
            <a:ext cx="3931920" cy="4754880"/>
          </a:xfrm>
          <a:prstGeom prst="rect">
            <a:avLst/>
          </a:prstGeom>
          <a:noFill/>
          <a:ln>
            <a:noFill/>
          </a:ln>
        </p:spPr>
        <p:txBody>
          <a:bodyPr wrap="square" lIns="73152" tIns="73152" rIns="73152" bIns="73152" rtlCol="0" anchor="t">
            <a:noAutofit/>
          </a:bodyPr>
          <a:lstStyle/>
          <a:p>
            <a:pPr>
              <a:spcAft>
                <a:spcPts val="300"/>
              </a:spcAft>
              <a:buNone/>
            </a:pPr>
            <a:r>
              <a:rPr lang="en-US" sz="1500" b="1" dirty="0">
                <a:solidFill>
                  <a:srgbClr val="1C2530"/>
                </a:solidFill>
                <a:latin typeface="Arial"/>
                <a:cs typeface="Arial"/>
              </a:rPr>
              <a:t>Functional</a:t>
            </a:r>
          </a:p>
          <a:p>
            <a:pPr marL="246888" indent="-246888">
              <a:spcAft>
                <a:spcPts val="600"/>
              </a:spcAft>
              <a:buFont typeface="Arial"/>
              <a:buChar char="•"/>
            </a:pPr>
            <a:r>
              <a:rPr lang="en-US" sz="1400" b="0" dirty="0">
                <a:solidFill>
                  <a:srgbClr val="1C2530"/>
                </a:solidFill>
                <a:latin typeface="Arial"/>
                <a:cs typeface="Arial"/>
              </a:rPr>
              <a:t>Accept text or image</a:t>
            </a:r>
          </a:p>
          <a:p>
            <a:pPr marL="246888" indent="-246888">
              <a:spcAft>
                <a:spcPts val="600"/>
              </a:spcAft>
              <a:buFont typeface="Arial"/>
              <a:buChar char="•"/>
            </a:pPr>
            <a:r>
              <a:rPr lang="en-US" sz="1400" b="0" dirty="0">
                <a:solidFill>
                  <a:srgbClr val="1C2530"/>
                </a:solidFill>
                <a:latin typeface="Arial"/>
                <a:cs typeface="Arial"/>
              </a:rPr>
              <a:t>Verdict with confidence</a:t>
            </a:r>
          </a:p>
          <a:p>
            <a:pPr marL="246888" indent="-246888">
              <a:spcAft>
                <a:spcPts val="600"/>
              </a:spcAft>
              <a:buFont typeface="Arial"/>
              <a:buChar char="•"/>
            </a:pPr>
            <a:r>
              <a:rPr lang="en-US" sz="1400" b="0" dirty="0">
                <a:solidFill>
                  <a:srgbClr val="1C2530"/>
                </a:solidFill>
                <a:latin typeface="Arial"/>
                <a:cs typeface="Arial"/>
              </a:rPr>
              <a:t>Per-tool readings and Grad-CAM</a:t>
            </a:r>
          </a:p>
          <a:p>
            <a:pPr marL="246888" indent="-246888">
              <a:spcAft>
                <a:spcPts val="600"/>
              </a:spcAft>
              <a:buFont typeface="Arial"/>
              <a:buChar char="•"/>
            </a:pPr>
            <a:r>
              <a:rPr lang="en-US" sz="1400" b="0" dirty="0">
                <a:solidFill>
                  <a:srgbClr val="1C2530"/>
                </a:solidFill>
                <a:latin typeface="Arial"/>
                <a:cs typeface="Arial"/>
              </a:rPr>
              <a:t>Cited reference material</a:t>
            </a:r>
          </a:p>
          <a:p>
            <a:pPr marL="246888" indent="-246888">
              <a:spcAft>
                <a:spcPts val="600"/>
              </a:spcAft>
              <a:buFont typeface="Arial"/>
              <a:buChar char="•"/>
            </a:pPr>
            <a:r>
              <a:rPr lang="en-US" sz="1400" b="0" dirty="0">
                <a:solidFill>
                  <a:srgbClr val="1C2530"/>
                </a:solidFill>
                <a:latin typeface="Arial"/>
                <a:cs typeface="Arial"/>
              </a:rPr>
              <a:t>Referral of doubtful cases</a:t>
            </a:r>
          </a:p>
          <a:p>
            <a:pPr marL="246888" indent="-246888">
              <a:spcAft>
                <a:spcPts val="900"/>
              </a:spcAft>
              <a:buFont typeface="Arial"/>
              <a:buChar char="•"/>
            </a:pPr>
            <a:r>
              <a:rPr lang="en-US" sz="1400" b="0" dirty="0">
                <a:solidFill>
                  <a:srgbClr val="1C2530"/>
                </a:solidFill>
                <a:latin typeface="Arial"/>
                <a:cs typeface="Arial"/>
              </a:rPr>
              <a:t>Hashed audit record</a:t>
            </a:r>
          </a:p>
          <a:p>
            <a:pPr>
              <a:spcAft>
                <a:spcPts val="300"/>
              </a:spcAft>
              <a:buNone/>
            </a:pPr>
            <a:r>
              <a:rPr lang="en-US" sz="1500" b="1" dirty="0">
                <a:solidFill>
                  <a:srgbClr val="1C2530"/>
                </a:solidFill>
                <a:latin typeface="Arial"/>
                <a:cs typeface="Arial"/>
              </a:rPr>
              <a:t>Non-functional</a:t>
            </a:r>
          </a:p>
          <a:p>
            <a:pPr marL="246888" indent="-246888">
              <a:spcAft>
                <a:spcPts val="600"/>
              </a:spcAft>
              <a:buFont typeface="Arial"/>
              <a:buChar char="•"/>
            </a:pPr>
            <a:r>
              <a:rPr lang="en-US" sz="1400" b="0" dirty="0">
                <a:solidFill>
                  <a:srgbClr val="1C2530"/>
                </a:solidFill>
                <a:latin typeface="Arial"/>
                <a:cs typeface="Arial"/>
              </a:rPr>
              <a:t>Runs on one 16 GB GPU</a:t>
            </a:r>
          </a:p>
          <a:p>
            <a:pPr marL="246888" indent="-246888">
              <a:spcAft>
                <a:spcPts val="600"/>
              </a:spcAft>
              <a:buFont typeface="Arial"/>
              <a:buChar char="•"/>
            </a:pPr>
            <a:r>
              <a:rPr lang="en-US" sz="1400" b="0" dirty="0">
                <a:solidFill>
                  <a:srgbClr val="1C2530"/>
                </a:solidFill>
                <a:latin typeface="Arial"/>
                <a:cs typeface="Arial"/>
              </a:rPr>
              <a:t>Inputs validated by content</a:t>
            </a:r>
          </a:p>
          <a:p>
            <a:pPr marL="246888" indent="-246888">
              <a:spcAft>
                <a:spcPts val="600"/>
              </a:spcAft>
              <a:buFont typeface="Arial"/>
              <a:buChar char="•"/>
            </a:pPr>
            <a:r>
              <a:rPr lang="en-US" sz="1400" b="0" dirty="0">
                <a:solidFill>
                  <a:srgbClr val="1C2530"/>
                </a:solidFill>
                <a:latin typeface="Arial"/>
                <a:cs typeface="Arial"/>
              </a:rPr>
              <a:t>No secrets in the repository</a:t>
            </a:r>
          </a:p>
          <a:p>
            <a:pPr marL="246888" indent="-246888">
              <a:spcAft>
                <a:spcPts val="600"/>
              </a:spcAft>
              <a:buFont typeface="Arial"/>
              <a:buChar char="•"/>
            </a:pPr>
            <a:r>
              <a:rPr lang="en-US" sz="1400" b="0" dirty="0">
                <a:solidFill>
                  <a:srgbClr val="1C2530"/>
                </a:solidFill>
                <a:latin typeface="Arial"/>
                <a:cs typeface="Arial"/>
              </a:rPr>
              <a:t>Reproducible tests and CI</a:t>
            </a:r>
          </a:p>
        </p:txBody>
      </p:sp>
      <p:sp>
        <p:nvSpPr>
          <p:cNvPr id="6" name="Text 6"/>
          <p:cNvSpPr txBox="1"/>
          <p:nvPr/>
        </p:nvSpPr>
        <p:spPr>
          <a:xfrm>
            <a:off x="502920" y="5760720"/>
            <a:ext cx="6949440" cy="548640"/>
          </a:xfrm>
          <a:prstGeom prst="rect">
            <a:avLst/>
          </a:prstGeom>
          <a:noFill/>
          <a:ln>
            <a:noFill/>
          </a:ln>
        </p:spPr>
        <p:txBody>
          <a:bodyPr wrap="square" lIns="0" tIns="0" rIns="0" bIns="0" rtlCol="0" anchor="t">
            <a:noAutofit/>
          </a:bodyPr>
          <a:lstStyle/>
          <a:p>
            <a:pPr>
              <a:spcAft>
                <a:spcPts val="400"/>
              </a:spcAft>
              <a:buNone/>
            </a:pPr>
            <a:r>
              <a:rPr lang="en-US" sz="1300" b="0" dirty="0">
                <a:solidFill>
                  <a:srgbClr val="5E6873"/>
                </a:solidFill>
                <a:latin typeface="Arial"/>
                <a:cs typeface="Arial"/>
              </a:rPr>
              <a:t>github.com/Aditya-Khatri-7/Major-Project-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Working Model: Modules and Deliverables</a:t>
            </a:r>
          </a:p>
        </p:txBody>
      </p:sp>
      <p:graphicFrame>
        <p:nvGraphicFramePr>
          <p:cNvPr id="3" name="Table 3"/>
          <p:cNvGraphicFramePr>
            <a:graphicFrameLocks noGrp="1"/>
          </p:cNvGraphicFramePr>
          <p:nvPr/>
        </p:nvGraphicFramePr>
        <p:xfrm>
          <a:off x="548640" y="1097280"/>
          <a:ext cx="11155680" cy="4352544"/>
        </p:xfrm>
        <a:graphic>
          <a:graphicData uri="http://schemas.openxmlformats.org/drawingml/2006/table">
            <a:tbl>
              <a:tblPr firstRow="1"/>
              <a:tblGrid>
                <a:gridCol w="2011680"/>
                <a:gridCol w="5852160"/>
                <a:gridCol w="3291840"/>
              </a:tblGrid>
              <a:tr h="621792">
                <a:tc>
                  <a:txBody>
                    <a:bodyPr/>
                    <a:lstStyle/>
                    <a:p>
                      <a:pPr>
                        <a:buNone/>
                      </a:pPr>
                      <a:r>
                        <a:rPr lang="en-US" sz="1400" b="1" dirty="0">
                          <a:solidFill>
                            <a:srgbClr val="1F3A5F"/>
                          </a:solidFill>
                          <a:latin typeface="Arial"/>
                          <a:cs typeface="Arial"/>
                        </a:rPr>
                        <a:t>Module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400" b="1" dirty="0">
                          <a:solidFill>
                            <a:srgbClr val="1F3A5F"/>
                          </a:solidFill>
                          <a:latin typeface="Arial"/>
                          <a:cs typeface="Arial"/>
                        </a:rPr>
                        <a:t>Attained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400" b="1" dirty="0">
                          <a:solidFill>
                            <a:srgbClr val="1F3A5F"/>
                          </a:solidFill>
                          <a:latin typeface="Arial"/>
                          <a:cs typeface="Arial"/>
                        </a:rPr>
                        <a:t>Remaining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621792">
                <a:tc>
                  <a:txBody>
                    <a:bodyPr/>
                    <a:lstStyle/>
                    <a:p>
                      <a:pPr>
                        <a:buNone/>
                      </a:pPr>
                      <a:r>
                        <a:rPr lang="en-US" sz="1400" b="0" dirty="0">
                          <a:solidFill>
                            <a:srgbClr val="1C2530"/>
                          </a:solidFill>
                          <a:latin typeface="Arial"/>
                          <a:cs typeface="Arial"/>
                        </a:rPr>
                        <a:t>Core engineering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Typed state, settings, JSON logs, 81 tests, CI with Docker build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Distributed tracing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21792">
                <a:tc>
                  <a:txBody>
                    <a:bodyPr/>
                    <a:lstStyle/>
                    <a:p>
                      <a:pPr>
                        <a:buNone/>
                      </a:pPr>
                      <a:r>
                        <a:rPr lang="en-US" sz="1400" b="0" dirty="0">
                          <a:solidFill>
                            <a:srgbClr val="1C2530"/>
                          </a:solidFill>
                          <a:latin typeface="Arial"/>
                          <a:cs typeface="Arial"/>
                        </a:rPr>
                        <a:t>Text agent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DeBERTa-v3, Binoculars, judge adapter, input normalisation, calibration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Judge calibration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21792">
                <a:tc>
                  <a:txBody>
                    <a:bodyPr/>
                    <a:lstStyle/>
                    <a:p>
                      <a:pPr>
                        <a:buNone/>
                      </a:pPr>
                      <a:r>
                        <a:rPr lang="en-US" sz="1400" b="0" dirty="0">
                          <a:solidFill>
                            <a:srgbClr val="1C2530"/>
                          </a:solidFill>
                          <a:latin typeface="Arial"/>
                          <a:cs typeface="Arial"/>
                        </a:rPr>
                        <a:t>Image agent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Scope guard, EfficientNet-B4, CLIP probes, Grad-CAM, robustness test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Unseen-method transfer</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21792">
                <a:tc>
                  <a:txBody>
                    <a:bodyPr/>
                    <a:lstStyle/>
                    <a:p>
                      <a:pPr>
                        <a:buNone/>
                      </a:pPr>
                      <a:r>
                        <a:rPr lang="en-US" sz="1400" b="0" dirty="0">
                          <a:solidFill>
                            <a:srgbClr val="1C2530"/>
                          </a:solidFill>
                          <a:latin typeface="Arial"/>
                          <a:cs typeface="Arial"/>
                        </a:rPr>
                        <a:t>Orchestration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Routing, fusion, disagreement rule, Reflexion, referral</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Live Reflexion measurements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21792">
                <a:tc>
                  <a:txBody>
                    <a:bodyPr/>
                    <a:lstStyle/>
                    <a:p>
                      <a:pPr>
                        <a:buNone/>
                      </a:pPr>
                      <a:r>
                        <a:rPr lang="en-US" sz="1400" b="0" dirty="0">
                          <a:solidFill>
                            <a:srgbClr val="1C2530"/>
                          </a:solidFill>
                          <a:latin typeface="Arial"/>
                          <a:cs typeface="Arial"/>
                        </a:rPr>
                        <a:t>RAG</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21-chunk knowledge base, cut-off and query rewrite, case memory with corrections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Larger curated corpus</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21792">
                <a:tc>
                  <a:txBody>
                    <a:bodyPr/>
                    <a:lstStyle/>
                    <a:p>
                      <a:pPr>
                        <a:buNone/>
                      </a:pPr>
                      <a:r>
                        <a:rPr lang="en-US" sz="1400" b="0" dirty="0">
                          <a:solidFill>
                            <a:srgbClr val="1C2530"/>
                          </a:solidFill>
                          <a:latin typeface="Arial"/>
                          <a:cs typeface="Arial"/>
                        </a:rPr>
                        <a:t>Product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Web interface, API key, rate limit, SQLite audit store, Docker</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400" b="0" dirty="0">
                          <a:solidFill>
                            <a:srgbClr val="1C2530"/>
                          </a:solidFill>
                          <a:latin typeface="Arial"/>
                          <a:cs typeface="Arial"/>
                        </a:rPr>
                        <a:t>PDF export of a case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
        <p:nvSpPr>
          <p:cNvPr id="4" name="Text 4"/>
          <p:cNvSpPr txBox="1"/>
          <p:nvPr/>
        </p:nvSpPr>
        <p:spPr>
          <a:xfrm>
            <a:off x="548640" y="5669280"/>
            <a:ext cx="11155680" cy="548640"/>
          </a:xfrm>
          <a:prstGeom prst="rect">
            <a:avLst/>
          </a:prstGeom>
          <a:noFill/>
          <a:ln>
            <a:noFill/>
          </a:ln>
        </p:spPr>
        <p:txBody>
          <a:bodyPr wrap="square" lIns="0" tIns="0" rIns="0" bIns="0" rtlCol="0" anchor="t">
            <a:noAutofit/>
          </a:bodyPr>
          <a:lstStyle/>
          <a:p>
            <a:pPr>
              <a:spcAft>
                <a:spcPts val="400"/>
              </a:spcAft>
              <a:buNone/>
            </a:pPr>
            <a:r>
              <a:rPr lang="en-US" sz="1300" b="0" dirty="0">
                <a:solidFill>
                  <a:srgbClr val="5E6873"/>
                </a:solidFill>
                <a:latin typeface="Arial"/>
                <a:cs typeface="Arial"/>
              </a:rPr>
              <a:t>Changes from the synopsis, with reasons, are kept in DECISIONS.md: XGBoost removed, DeBERTa-v3 instead of RoBERTa, CLIP probes instead of frequency tools, web interface instead of React.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Working Model: Interface</a:t>
            </a:r>
          </a:p>
        </p:txBody>
      </p:sp>
      <p:pic>
        <p:nvPicPr>
          <p:cNvPr id="3" name="Picture 3" descr="Web interface showing an image case"/>
          <p:cNvPicPr>
            <a:picLocks noChangeAspect="1"/>
          </p:cNvPicPr>
          <p:nvPr/>
        </p:nvPicPr>
        <p:blipFill>
          <a:blip r:embed="rId10"/>
          <a:stretch>
            <a:fillRect/>
          </a:stretch>
        </p:blipFill>
        <p:spPr>
          <a:xfrm>
            <a:off x="640080" y="1051560"/>
            <a:ext cx="4963885" cy="5212080"/>
          </a:xfrm>
          <a:prstGeom prst="rect">
            <a:avLst/>
          </a:prstGeom>
          <a:ln w="9525">
            <a:solidFill>
              <a:srgbClr val="C9D3DE"/>
            </a:solidFill>
          </a:ln>
        </p:spPr>
      </p:pic>
      <p:sp>
        <p:nvSpPr>
          <p:cNvPr id="4" name="Text 4"/>
          <p:cNvSpPr txBox="1"/>
          <p:nvPr/>
        </p:nvSpPr>
        <p:spPr>
          <a:xfrm>
            <a:off x="6126480" y="1051560"/>
            <a:ext cx="54864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WHAT THE SCREEN SHOWS</a:t>
            </a:r>
          </a:p>
        </p:txBody>
      </p:sp>
      <p:sp>
        <p:nvSpPr>
          <p:cNvPr id="5" name="Text 5"/>
          <p:cNvSpPr txBox="1"/>
          <p:nvPr/>
        </p:nvSpPr>
        <p:spPr>
          <a:xfrm>
            <a:off x="6126480" y="1371600"/>
            <a:ext cx="5577840" cy="475488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500" b="1" dirty="0">
                <a:solidFill>
                  <a:srgbClr val="1C2530"/>
                </a:solidFill>
                <a:latin typeface="Arial"/>
                <a:cs typeface="Arial"/>
              </a:rPr>
              <a:t>Finding and meter:</a:t>
            </a:r>
            <a:r>
              <a:rPr lang="en-US" sz="1500" b="0" dirty="0">
                <a:solidFill>
                  <a:srgbClr val="1C2530"/>
                </a:solidFill>
                <a:latin typeface="Arial"/>
                <a:cs typeface="Arial"/>
              </a:rPr>
              <a:t> verdict, confidence and the combined reading against the decision thresholds</a:t>
            </a:r>
          </a:p>
          <a:p>
            <a:pPr marL="246888" indent="-246888">
              <a:spcAft>
                <a:spcPts val="600"/>
              </a:spcAft>
              <a:buFont typeface="Arial"/>
              <a:buChar char="•"/>
            </a:pPr>
            <a:r>
              <a:rPr lang="en-US" sz="1500" b="1" dirty="0">
                <a:solidFill>
                  <a:srgbClr val="1C2530"/>
                </a:solidFill>
                <a:latin typeface="Arial"/>
                <a:cs typeface="Arial"/>
              </a:rPr>
              <a:t>Instrument readings:</a:t>
            </a:r>
            <a:r>
              <a:rPr lang="en-US" sz="1500" b="0" dirty="0">
                <a:solidFill>
                  <a:srgbClr val="1C2530"/>
                </a:solidFill>
                <a:latin typeface="Arial"/>
                <a:cs typeface="Arial"/>
              </a:rPr>
              <a:t> each tool's score and reliability, or why it was not used</a:t>
            </a:r>
          </a:p>
          <a:p>
            <a:pPr marL="246888" indent="-246888">
              <a:spcAft>
                <a:spcPts val="600"/>
              </a:spcAft>
              <a:buFont typeface="Arial"/>
              <a:buChar char="•"/>
            </a:pPr>
            <a:r>
              <a:rPr lang="en-US" sz="1500" b="1" dirty="0">
                <a:solidFill>
                  <a:srgbClr val="1C2530"/>
                </a:solidFill>
                <a:latin typeface="Arial"/>
                <a:cs typeface="Arial"/>
              </a:rPr>
              <a:t>Grad-CAM figure:</a:t>
            </a:r>
            <a:r>
              <a:rPr lang="en-US" sz="1500" b="0" dirty="0">
                <a:solidFill>
                  <a:srgbClr val="1C2530"/>
                </a:solidFill>
                <a:latin typeface="Arial"/>
                <a:cs typeface="Arial"/>
              </a:rPr>
              <a:t> regions that influenced the network</a:t>
            </a:r>
          </a:p>
          <a:p>
            <a:pPr marL="246888" indent="-246888">
              <a:spcAft>
                <a:spcPts val="600"/>
              </a:spcAft>
              <a:buFont typeface="Arial"/>
              <a:buChar char="•"/>
            </a:pPr>
            <a:r>
              <a:rPr lang="en-US" sz="1500" b="1" dirty="0">
                <a:solidFill>
                  <a:srgbClr val="1C2530"/>
                </a:solidFill>
                <a:latin typeface="Arial"/>
                <a:cs typeface="Arial"/>
              </a:rPr>
              <a:t>Verifier notes and referral:</a:t>
            </a:r>
            <a:r>
              <a:rPr lang="en-US" sz="1500" b="0" dirty="0">
                <a:solidFill>
                  <a:srgbClr val="1C2530"/>
                </a:solidFill>
                <a:latin typeface="Arial"/>
                <a:cs typeface="Arial"/>
              </a:rPr>
              <a:t> why a case was or was not sent to a person</a:t>
            </a:r>
          </a:p>
          <a:p>
            <a:pPr marL="246888" indent="-246888">
              <a:spcAft>
                <a:spcPts val="600"/>
              </a:spcAft>
              <a:buFont typeface="Arial"/>
              <a:buChar char="•"/>
            </a:pPr>
            <a:r>
              <a:rPr lang="en-US" sz="1500" b="1" dirty="0">
                <a:solidFill>
                  <a:srgbClr val="1C2530"/>
                </a:solidFill>
                <a:latin typeface="Arial"/>
                <a:cs typeface="Arial"/>
              </a:rPr>
              <a:t>Reference material:</a:t>
            </a:r>
            <a:r>
              <a:rPr lang="en-US" sz="1500" b="0" dirty="0">
                <a:solidFill>
                  <a:srgbClr val="1C2530"/>
                </a:solidFill>
                <a:latin typeface="Arial"/>
                <a:cs typeface="Arial"/>
              </a:rPr>
              <a:t> cited sources; the system's own earlier cases are marked unverified</a:t>
            </a:r>
          </a:p>
          <a:p>
            <a:pPr marL="246888" indent="-246888">
              <a:spcAft>
                <a:spcPts val="600"/>
              </a:spcAft>
              <a:buFont typeface="Arial"/>
              <a:buChar char="•"/>
            </a:pPr>
            <a:r>
              <a:rPr lang="en-US" sz="1500" b="1" dirty="0">
                <a:solidFill>
                  <a:srgbClr val="1C2530"/>
                </a:solidFill>
                <a:latin typeface="Arial"/>
                <a:cs typeface="Arial"/>
              </a:rPr>
              <a:t>Examiner's determination:</a:t>
            </a:r>
            <a:r>
              <a:rPr lang="en-US" sz="1500" b="0" dirty="0">
                <a:solidFill>
                  <a:srgbClr val="1C2530"/>
                </a:solidFill>
                <a:latin typeface="Arial"/>
                <a:cs typeface="Arial"/>
              </a:rPr>
              <a:t> a human label that feeds case memory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Results: Text</a:t>
            </a:r>
          </a:p>
        </p:txBody>
      </p:sp>
      <p:pic>
        <p:nvPicPr>
          <p:cNvPr id="3" name="Picture 3" descr="Text AUROC by test set"/>
          <p:cNvPicPr>
            <a:picLocks noChangeAspect="1"/>
          </p:cNvPicPr>
          <p:nvPr/>
        </p:nvPicPr>
        <p:blipFill>
          <a:blip r:embed="rId10"/>
          <a:stretch>
            <a:fillRect/>
          </a:stretch>
        </p:blipFill>
        <p:spPr>
          <a:xfrm>
            <a:off x="502920" y="1097280"/>
            <a:ext cx="7040880" cy="3017520"/>
          </a:xfrm>
          <a:prstGeom prst="rect">
            <a:avLst/>
          </a:prstGeom>
          <a:ln w="9525">
            <a:solidFill>
              <a:srgbClr val="C9D3DE"/>
            </a:solidFill>
          </a:ln>
        </p:spPr>
      </p:pic>
      <p:sp>
        <p:nvSpPr>
          <p:cNvPr id="4" name="Text 4"/>
          <p:cNvSpPr txBox="1"/>
          <p:nvPr/>
        </p:nvSpPr>
        <p:spPr>
          <a:xfrm>
            <a:off x="7955279" y="1143000"/>
            <a:ext cx="3749039"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0.957 to 0.998</a:t>
            </a:r>
          </a:p>
        </p:txBody>
      </p:sp>
      <p:sp>
        <p:nvSpPr>
          <p:cNvPr id="5" name="Text 5"/>
          <p:cNvSpPr txBox="1"/>
          <p:nvPr/>
        </p:nvSpPr>
        <p:spPr>
          <a:xfrm>
            <a:off x="7955279" y="1801368"/>
            <a:ext cx="3749039"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AUROC on five held-out sets, including an unseen generator and unseen attacks</a:t>
            </a:r>
          </a:p>
        </p:txBody>
      </p:sp>
      <p:sp>
        <p:nvSpPr>
          <p:cNvPr id="6" name="Text 6"/>
          <p:cNvSpPr txBox="1"/>
          <p:nvPr/>
        </p:nvSpPr>
        <p:spPr>
          <a:xfrm>
            <a:off x="7955279" y="2743200"/>
            <a:ext cx="3749039"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58 to 61%</a:t>
            </a:r>
          </a:p>
        </p:txBody>
      </p:sp>
      <p:sp>
        <p:nvSpPr>
          <p:cNvPr id="7" name="Text 7"/>
          <p:cNvSpPr txBox="1"/>
          <p:nvPr/>
        </p:nvSpPr>
        <p:spPr>
          <a:xfrm>
            <a:off x="7955279" y="3401568"/>
            <a:ext cx="3749039"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AI text caught at 1% false positives on the hardest sets (MAGE, unseen attacks)</a:t>
            </a:r>
          </a:p>
        </p:txBody>
      </p:sp>
      <p:sp>
        <p:nvSpPr>
          <p:cNvPr id="8" name="Text 8"/>
          <p:cNvSpPr txBox="1"/>
          <p:nvPr/>
        </p:nvSpPr>
        <p:spPr>
          <a:xfrm>
            <a:off x="7955279" y="4343400"/>
            <a:ext cx="3749039"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92 to 99.6%</a:t>
            </a:r>
          </a:p>
        </p:txBody>
      </p:sp>
      <p:sp>
        <p:nvSpPr>
          <p:cNvPr id="9" name="Text 9"/>
          <p:cNvSpPr txBox="1"/>
          <p:nvPr/>
        </p:nvSpPr>
        <p:spPr>
          <a:xfrm>
            <a:off x="7955279" y="5001768"/>
            <a:ext cx="3749039"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accuracy on cases the system decides; 30 to 52% are referred to a person</a:t>
            </a:r>
          </a:p>
        </p:txBody>
      </p:sp>
      <p:sp>
        <p:nvSpPr>
          <p:cNvPr id="10" name="Text 10"/>
          <p:cNvSpPr txBox="1"/>
          <p:nvPr/>
        </p:nvSpPr>
        <p:spPr>
          <a:xfrm>
            <a:off x="502920" y="4937760"/>
            <a:ext cx="7040880" cy="118872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Input normalisation alone lifted the homoglyph attack from AUROC 0.72 to 0.99, without retraining. Binoculars adds no accuracy (fused AUROC −0.001 to −0.006), so its weight is capped at 0.10.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Results: Images</a:t>
            </a:r>
          </a:p>
        </p:txBody>
      </p:sp>
      <p:pic>
        <p:nvPicPr>
          <p:cNvPr id="3" name="Picture 3" descr="Image AUROC by test set"/>
          <p:cNvPicPr>
            <a:picLocks noChangeAspect="1"/>
          </p:cNvPicPr>
          <p:nvPr/>
        </p:nvPicPr>
        <p:blipFill>
          <a:blip r:embed="rId10"/>
          <a:stretch>
            <a:fillRect/>
          </a:stretch>
        </p:blipFill>
        <p:spPr>
          <a:xfrm>
            <a:off x="502920" y="1097280"/>
            <a:ext cx="7040880" cy="3017520"/>
          </a:xfrm>
          <a:prstGeom prst="rect">
            <a:avLst/>
          </a:prstGeom>
          <a:ln w="9525">
            <a:solidFill>
              <a:srgbClr val="C9D3DE"/>
            </a:solidFill>
          </a:ln>
        </p:spPr>
      </p:pic>
      <p:sp>
        <p:nvSpPr>
          <p:cNvPr id="4" name="Text 4"/>
          <p:cNvSpPr txBox="1"/>
          <p:nvPr/>
        </p:nvSpPr>
        <p:spPr>
          <a:xfrm>
            <a:off x="7955279" y="1143000"/>
            <a:ext cx="3749039"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1F3A5F"/>
                </a:solidFill>
                <a:latin typeface="Arial"/>
                <a:cs typeface="Arial"/>
              </a:rPr>
              <a:t>0.976 to 0.999</a:t>
            </a:r>
          </a:p>
        </p:txBody>
      </p:sp>
      <p:sp>
        <p:nvSpPr>
          <p:cNvPr id="5" name="Text 5"/>
          <p:cNvSpPr txBox="1"/>
          <p:nvPr/>
        </p:nvSpPr>
        <p:spPr>
          <a:xfrm>
            <a:off x="7955279" y="1801368"/>
            <a:ext cx="3749039"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AUROC on WildDeepfake, FF++ (seen) and Celeb-DF</a:t>
            </a:r>
          </a:p>
        </p:txBody>
      </p:sp>
      <p:sp>
        <p:nvSpPr>
          <p:cNvPr id="6" name="Text 6"/>
          <p:cNvSpPr txBox="1"/>
          <p:nvPr/>
        </p:nvSpPr>
        <p:spPr>
          <a:xfrm>
            <a:off x="7955279" y="2743200"/>
            <a:ext cx="3749039" cy="685800"/>
          </a:xfrm>
          <a:prstGeom prst="rect">
            <a:avLst/>
          </a:prstGeom>
          <a:noFill/>
          <a:ln>
            <a:noFill/>
          </a:ln>
        </p:spPr>
        <p:txBody>
          <a:bodyPr wrap="square" lIns="0" tIns="0" rIns="0" bIns="0" rtlCol="0" anchor="t">
            <a:noAutofit/>
          </a:bodyPr>
          <a:lstStyle/>
          <a:p>
            <a:pPr>
              <a:spcAft>
                <a:spcPts val="400"/>
              </a:spcAft>
              <a:buNone/>
            </a:pPr>
            <a:r>
              <a:rPr lang="en-US" sz="3400" b="1" dirty="0">
                <a:solidFill>
                  <a:srgbClr val="8A6618"/>
                </a:solidFill>
                <a:latin typeface="Arial"/>
                <a:cs typeface="Arial"/>
              </a:rPr>
              <a:t>0.794</a:t>
            </a:r>
          </a:p>
        </p:txBody>
      </p:sp>
      <p:sp>
        <p:nvSpPr>
          <p:cNvPr id="7" name="Text 7"/>
          <p:cNvSpPr txBox="1"/>
          <p:nvPr/>
        </p:nvSpPr>
        <p:spPr>
          <a:xfrm>
            <a:off x="7955279" y="3401568"/>
            <a:ext cx="3749039" cy="8229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AUROC on unseen methods; 13% of fakes caught at 1% false positives</a:t>
            </a:r>
          </a:p>
        </p:txBody>
      </p:sp>
      <p:sp>
        <p:nvSpPr>
          <p:cNvPr id="8" name="Text 8"/>
          <p:cNvSpPr txBox="1"/>
          <p:nvPr/>
        </p:nvSpPr>
        <p:spPr>
          <a:xfrm>
            <a:off x="7955279" y="4343400"/>
            <a:ext cx="3749039" cy="173736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A model trained on WildDeepfake alone scored 0.52 on FF++. Cause: full frames versus face crops, and one training source. Face crops plus a three-dataset mix raised it to 0.98.</a:t>
            </a:r>
          </a:p>
        </p:txBody>
      </p:sp>
      <p:sp>
        <p:nvSpPr>
          <p:cNvPr id="9" name="Text 9"/>
          <p:cNvSpPr txBox="1"/>
          <p:nvPr/>
        </p:nvSpPr>
        <p:spPr>
          <a:xfrm>
            <a:off x="502920" y="4937760"/>
            <a:ext cx="7040880" cy="1188720"/>
          </a:xfrm>
          <a:prstGeom prst="rect">
            <a:avLst/>
          </a:prstGeom>
          <a:noFill/>
          <a:ln>
            <a:noFill/>
          </a:ln>
        </p:spPr>
        <p:txBody>
          <a:bodyPr wrap="square" lIns="0" tIns="0" rIns="0" bIns="0" rtlCol="0" anchor="t">
            <a:noAutofit/>
          </a:bodyPr>
          <a:lstStyle/>
          <a:p>
            <a:pPr>
              <a:spcAft>
                <a:spcPts val="400"/>
              </a:spcAft>
              <a:buNone/>
            </a:pPr>
            <a:r>
              <a:rPr lang="en-US" sz="1400" b="0" dirty="0">
                <a:solidFill>
                  <a:srgbClr val="5E6873"/>
                </a:solidFill>
                <a:latin typeface="Arial"/>
                <a:cs typeface="Arial"/>
              </a:rPr>
              <a:t>Self-blended images, one extra manipulation method and a CLIP-only probe each failed to close the unseen-method gap; fusing CLIP with the CNN gave +0.04.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Results: Robustness and Fixes</a:t>
            </a:r>
          </a:p>
        </p:txBody>
      </p:sp>
      <p:pic>
        <p:nvPicPr>
          <p:cNvPr id="3" name="Picture 3" descr="False alarms after degradation"/>
          <p:cNvPicPr>
            <a:picLocks noChangeAspect="1"/>
          </p:cNvPicPr>
          <p:nvPr/>
        </p:nvPicPr>
        <p:blipFill>
          <a:blip r:embed="rId10"/>
          <a:stretch>
            <a:fillRect/>
          </a:stretch>
        </p:blipFill>
        <p:spPr>
          <a:xfrm>
            <a:off x="502920" y="1097280"/>
            <a:ext cx="6035040" cy="2586445"/>
          </a:xfrm>
          <a:prstGeom prst="rect">
            <a:avLst/>
          </a:prstGeom>
          <a:ln w="9525">
            <a:solidFill>
              <a:srgbClr val="C9D3DE"/>
            </a:solidFill>
          </a:ln>
        </p:spPr>
      </p:pic>
      <p:sp>
        <p:nvSpPr>
          <p:cNvPr id="4" name="Text 4"/>
          <p:cNvSpPr txBox="1"/>
          <p:nvPr/>
        </p:nvSpPr>
        <p:spPr>
          <a:xfrm>
            <a:off x="502920" y="3931920"/>
            <a:ext cx="6035040" cy="2286000"/>
          </a:xfrm>
          <a:prstGeom prst="rect">
            <a:avLst/>
          </a:prstGeom>
          <a:noFill/>
          <a:ln>
            <a:noFill/>
          </a:ln>
        </p:spPr>
        <p:txBody>
          <a:bodyPr wrap="square" lIns="0" tIns="0" rIns="0" bIns="0" rtlCol="0" anchor="t">
            <a:noAutofit/>
          </a:bodyPr>
          <a:lstStyle/>
          <a:p>
            <a:pPr>
              <a:spcAft>
                <a:spcPts val="600"/>
              </a:spcAft>
              <a:buNone/>
            </a:pPr>
            <a:r>
              <a:rPr lang="en-US" sz="1400" b="0" dirty="0">
                <a:solidFill>
                  <a:srgbClr val="5E6873"/>
                </a:solidFill>
                <a:latin typeface="Arial"/>
                <a:cs typeface="Arial"/>
              </a:rPr>
              <a:t>Real faces wrongly flagged rise from 3% to 9% (Celeb-DF), 7% to 17% (WildDeepfake) and 15% to 49% (FF++) under screenshot-like damage, while AUROC mostly holds.</a:t>
            </a:r>
          </a:p>
          <a:p>
            <a:pPr>
              <a:spcAft>
                <a:spcPts val="400"/>
              </a:spcAft>
              <a:buNone/>
            </a:pPr>
            <a:r>
              <a:rPr lang="en-US" sz="1400" b="1" dirty="0">
                <a:solidFill>
                  <a:srgbClr val="1F3A5F"/>
                </a:solidFill>
                <a:latin typeface="Arial"/>
                <a:cs typeface="Arial"/>
              </a:rPr>
              <a:t>A second threshold fitted on degraded calibration images halves false alarms on Celeb-DF (9% to 4%) and WildDeepfake (17% to 8%) for 2 to 4 points of fakes caught. FF++ stays at 37%.</a:t>
            </a:r>
          </a:p>
        </p:txBody>
      </p:sp>
      <p:graphicFrame>
        <p:nvGraphicFramePr>
          <p:cNvPr id="5" name="Table 5"/>
          <p:cNvGraphicFramePr>
            <a:graphicFrameLocks noGrp="1"/>
          </p:cNvGraphicFramePr>
          <p:nvPr/>
        </p:nvGraphicFramePr>
        <p:xfrm>
          <a:off x="6766560" y="1097280"/>
          <a:ext cx="4937760" cy="4736592"/>
        </p:xfrm>
        <a:graphic>
          <a:graphicData uri="http://schemas.openxmlformats.org/drawingml/2006/table">
            <a:tbl>
              <a:tblPr firstRow="1"/>
              <a:tblGrid>
                <a:gridCol w="2286000"/>
                <a:gridCol w="2651760"/>
              </a:tblGrid>
              <a:tr h="676656">
                <a:tc>
                  <a:txBody>
                    <a:bodyPr/>
                    <a:lstStyle/>
                    <a:p>
                      <a:pPr>
                        <a:buNone/>
                      </a:pPr>
                      <a:r>
                        <a:rPr lang="en-US" sz="1300" b="1" dirty="0">
                          <a:solidFill>
                            <a:srgbClr val="1F3A5F"/>
                          </a:solidFill>
                          <a:latin typeface="Arial"/>
                          <a:cs typeface="Arial"/>
                        </a:rPr>
                        <a:t>Problem found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c>
                  <a:txBody>
                    <a:bodyPr/>
                    <a:lstStyle/>
                    <a:p>
                      <a:pPr>
                        <a:buNone/>
                      </a:pPr>
                      <a:r>
                        <a:rPr lang="en-US" sz="1300" b="1" dirty="0">
                          <a:solidFill>
                            <a:srgbClr val="1F3A5F"/>
                          </a:solidFill>
                          <a:latin typeface="Arial"/>
                          <a:cs typeface="Arial"/>
                        </a:rPr>
                        <a:t>Fix and effect</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D9EAF7"/>
                    </a:solidFill>
                  </a:tcPr>
                </a:tc>
              </a:tr>
              <a:tr h="676656">
                <a:tc>
                  <a:txBody>
                    <a:bodyPr/>
                    <a:lstStyle/>
                    <a:p>
                      <a:pPr>
                        <a:buNone/>
                      </a:pPr>
                      <a:r>
                        <a:rPr lang="en-US" sz="1300" b="0" dirty="0">
                          <a:solidFill>
                            <a:srgbClr val="1C2530"/>
                          </a:solidFill>
                          <a:latin typeface="Arial"/>
                          <a:cs typeface="Arial"/>
                        </a:rPr>
                        <a:t>Text 0.66 on MAGE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Mixed corpora, held-out generators: 0.97</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76656">
                <a:tc>
                  <a:txBody>
                    <a:bodyPr/>
                    <a:lstStyle/>
                    <a:p>
                      <a:pPr>
                        <a:buNone/>
                      </a:pPr>
                      <a:r>
                        <a:rPr lang="en-US" sz="1300" b="0" dirty="0">
                          <a:solidFill>
                            <a:srgbClr val="1C2530"/>
                          </a:solidFill>
                          <a:latin typeface="Arial"/>
                          <a:cs typeface="Arial"/>
                        </a:rPr>
                        <a:t>Images 0.52 on FF++</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Face crops, three sources: 0.98</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76656">
                <a:tc>
                  <a:txBody>
                    <a:bodyPr/>
                    <a:lstStyle/>
                    <a:p>
                      <a:pPr>
                        <a:buNone/>
                      </a:pPr>
                      <a:r>
                        <a:rPr lang="en-US" sz="1300" b="0" dirty="0">
                          <a:solidFill>
                            <a:srgbClr val="1C2530"/>
                          </a:solidFill>
                          <a:latin typeface="Arial"/>
                          <a:cs typeface="Arial"/>
                        </a:rPr>
                        <a:t>Homoglyph attack 0.72</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Input normalisation: 0.99</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76656">
                <a:tc>
                  <a:txBody>
                    <a:bodyPr/>
                    <a:lstStyle/>
                    <a:p>
                      <a:pPr>
                        <a:buNone/>
                      </a:pPr>
                      <a:r>
                        <a:rPr lang="en-US" sz="1300" b="0" dirty="0">
                          <a:solidFill>
                            <a:srgbClr val="1C2530"/>
                          </a:solidFill>
                          <a:latin typeface="Arial"/>
                          <a:cs typeface="Arial"/>
                        </a:rPr>
                        <a:t>Illustration judged authentic</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Scope guard, general probe</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76656">
                <a:tc>
                  <a:txBody>
                    <a:bodyPr/>
                    <a:lstStyle/>
                    <a:p>
                      <a:pPr>
                        <a:buNone/>
                      </a:pPr>
                      <a:r>
                        <a:rPr lang="en-US" sz="1300" b="0" dirty="0">
                          <a:solidFill>
                            <a:srgbClr val="1C2530"/>
                          </a:solidFill>
                          <a:latin typeface="Arial"/>
                          <a:cs typeface="Arial"/>
                        </a:rPr>
                        <a:t>75% of MAGE referred</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Weak tools advisory: 52%</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r h="676656">
                <a:tc>
                  <a:txBody>
                    <a:bodyPr/>
                    <a:lstStyle/>
                    <a:p>
                      <a:pPr>
                        <a:buNone/>
                      </a:pPr>
                      <a:r>
                        <a:rPr lang="en-US" sz="1300" b="0" dirty="0">
                          <a:solidFill>
                            <a:srgbClr val="1C2530"/>
                          </a:solidFill>
                          <a:latin typeface="Arial"/>
                          <a:cs typeface="Arial"/>
                        </a:rPr>
                        <a:t>Stale image calibration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c>
                  <a:txBody>
                    <a:bodyPr/>
                    <a:lstStyle/>
                    <a:p>
                      <a:pPr>
                        <a:buNone/>
                      </a:pPr>
                      <a:r>
                        <a:rPr lang="en-US" sz="1300" b="0" dirty="0">
                          <a:solidFill>
                            <a:srgbClr val="1C2530"/>
                          </a:solidFill>
                          <a:latin typeface="Arial"/>
                          <a:cs typeface="Arial"/>
                        </a:rPr>
                        <a:t>Re-scored, refit, benchmarks rerun</a:t>
                      </a:r>
                    </a:p>
                  </a:txBody>
                  <a:tcPr marL="73152" marR="73152" marT="45720" marB="45720" anchor="ctr">
                    <a:lnL w="6350">
                      <a:solidFill>
                        <a:srgbClr val="C9D3DE"/>
                      </a:solidFill>
                    </a:lnL>
                    <a:lnR w="6350">
                      <a:solidFill>
                        <a:srgbClr val="C9D3DE"/>
                      </a:solidFill>
                    </a:lnR>
                    <a:lnT w="6350">
                      <a:solidFill>
                        <a:srgbClr val="C9D3DE"/>
                      </a:solidFill>
                    </a:lnT>
                    <a:lnB w="6350">
                      <a:solidFill>
                        <a:srgbClr val="C9D3DE"/>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Conclusion</a:t>
            </a:r>
          </a:p>
        </p:txBody>
      </p:sp>
      <p:sp>
        <p:nvSpPr>
          <p:cNvPr id="3" name="Text 3"/>
          <p:cNvSpPr txBox="1"/>
          <p:nvPr/>
        </p:nvSpPr>
        <p:spPr>
          <a:xfrm>
            <a:off x="640080" y="1051560"/>
            <a:ext cx="54864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JUSTIFICATION OF OBJECTIVES</a:t>
            </a:r>
          </a:p>
        </p:txBody>
      </p:sp>
      <p:sp>
        <p:nvSpPr>
          <p:cNvPr id="4" name="Text 4"/>
          <p:cNvSpPr txBox="1"/>
          <p:nvPr/>
        </p:nvSpPr>
        <p:spPr>
          <a:xfrm>
            <a:off x="640080" y="1371600"/>
            <a:ext cx="5394960" cy="274320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500" b="0" dirty="0">
                <a:solidFill>
                  <a:srgbClr val="1C2530"/>
                </a:solidFill>
                <a:latin typeface="Arial"/>
                <a:cs typeface="Arial"/>
              </a:rPr>
              <a:t>End-to-end system built and tested: 81 tests, CI and Docker build green</a:t>
            </a:r>
          </a:p>
          <a:p>
            <a:pPr marL="246888" indent="-246888">
              <a:spcAft>
                <a:spcPts val="600"/>
              </a:spcAft>
              <a:buFont typeface="Arial"/>
              <a:buChar char="•"/>
            </a:pPr>
            <a:r>
              <a:rPr lang="en-US" sz="1500" b="0" dirty="0">
                <a:solidFill>
                  <a:srgbClr val="1C2530"/>
                </a:solidFill>
                <a:latin typeface="Arial"/>
                <a:cs typeface="Arial"/>
              </a:rPr>
              <a:t>Calibrated fusion with referral: 92 to 99.6% accuracy on decided cases (text and seen image sets)</a:t>
            </a:r>
          </a:p>
          <a:p>
            <a:pPr marL="246888" indent="-246888">
              <a:spcAft>
                <a:spcPts val="600"/>
              </a:spcAft>
              <a:buFont typeface="Arial"/>
              <a:buChar char="•"/>
            </a:pPr>
            <a:r>
              <a:rPr lang="en-US" sz="1500" b="0" dirty="0">
                <a:solidFill>
                  <a:srgbClr val="1C2530"/>
                </a:solidFill>
                <a:latin typeface="Arial"/>
                <a:cs typeface="Arial"/>
              </a:rPr>
              <a:t>Cited, auditable reports with human corrections feeding case memory</a:t>
            </a:r>
          </a:p>
        </p:txBody>
      </p:sp>
      <p:sp>
        <p:nvSpPr>
          <p:cNvPr id="5" name="Text 5"/>
          <p:cNvSpPr txBox="1"/>
          <p:nvPr/>
        </p:nvSpPr>
        <p:spPr>
          <a:xfrm>
            <a:off x="6309360" y="1051560"/>
            <a:ext cx="54864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PLAN FOR THE END-SEMESTER STAGE</a:t>
            </a:r>
          </a:p>
        </p:txBody>
      </p:sp>
      <p:sp>
        <p:nvSpPr>
          <p:cNvPr id="6" name="Text 6"/>
          <p:cNvSpPr txBox="1"/>
          <p:nvPr/>
        </p:nvSpPr>
        <p:spPr>
          <a:xfrm>
            <a:off x="6309360" y="1371600"/>
            <a:ext cx="5303520" cy="3108960"/>
          </a:xfrm>
          <a:prstGeom prst="rect">
            <a:avLst/>
          </a:prstGeom>
          <a:noFill/>
          <a:ln>
            <a:noFill/>
          </a:ln>
        </p:spPr>
        <p:txBody>
          <a:bodyPr wrap="square" lIns="73152" tIns="73152" rIns="73152" bIns="73152" rtlCol="0" anchor="t">
            <a:noAutofit/>
          </a:bodyPr>
          <a:lstStyle/>
          <a:p>
            <a:pPr marL="246888" indent="-246888">
              <a:spcAft>
                <a:spcPts val="600"/>
              </a:spcAft>
              <a:buFont typeface="Arial"/>
              <a:buChar char="•"/>
            </a:pPr>
            <a:r>
              <a:rPr lang="en-US" sz="1500" b="0" dirty="0">
                <a:solidFill>
                  <a:srgbClr val="1C2530"/>
                </a:solidFill>
                <a:latin typeface="Arial"/>
                <a:cs typeface="Arial"/>
              </a:rPr>
              <a:t>Calibrate and benchmark the judges; measure Reflexion</a:t>
            </a:r>
          </a:p>
          <a:p>
            <a:pPr marL="246888" indent="-246888">
              <a:spcAft>
                <a:spcPts val="600"/>
              </a:spcAft>
              <a:buFont typeface="Arial"/>
              <a:buChar char="•"/>
            </a:pPr>
            <a:r>
              <a:rPr lang="en-US" sz="1500" b="0" dirty="0">
                <a:solidFill>
                  <a:srgbClr val="1C2530"/>
                </a:solidFill>
                <a:latin typeface="Arial"/>
                <a:cs typeface="Arial"/>
              </a:rPr>
              <a:t>Detect re-uploads and apply the degraded-image threshold</a:t>
            </a:r>
          </a:p>
          <a:p>
            <a:pPr marL="246888" indent="-246888">
              <a:spcAft>
                <a:spcPts val="600"/>
              </a:spcAft>
              <a:buFont typeface="Arial"/>
              <a:buChar char="•"/>
            </a:pPr>
            <a:r>
              <a:rPr lang="en-US" sz="1500" b="0" dirty="0">
                <a:solidFill>
                  <a:srgbClr val="1C2530"/>
                </a:solidFill>
                <a:latin typeface="Arial"/>
                <a:cs typeface="Arial"/>
              </a:rPr>
              <a:t>Second unseen synthetic-face set; non-native-English text audit</a:t>
            </a:r>
          </a:p>
          <a:p>
            <a:pPr marL="246888" indent="-246888">
              <a:spcAft>
                <a:spcPts val="600"/>
              </a:spcAft>
              <a:buFont typeface="Arial"/>
              <a:buChar char="•"/>
            </a:pPr>
            <a:r>
              <a:rPr lang="en-US" sz="1500" b="0" dirty="0">
                <a:solidFill>
                  <a:srgbClr val="1C2530"/>
                </a:solidFill>
                <a:latin typeface="Arial"/>
                <a:cs typeface="Arial"/>
              </a:rPr>
              <a:t>Retrain the CNN with synthetic faces; test frequency evidence</a:t>
            </a:r>
          </a:p>
          <a:p>
            <a:pPr marL="246888" indent="-246888">
              <a:spcAft>
                <a:spcPts val="600"/>
              </a:spcAft>
              <a:buFont typeface="Arial"/>
              <a:buChar char="•"/>
            </a:pPr>
            <a:r>
              <a:rPr lang="en-US" sz="1500" b="0" dirty="0">
                <a:solidFill>
                  <a:srgbClr val="1C2530"/>
                </a:solidFill>
                <a:latin typeface="Arial"/>
                <a:cs typeface="Arial"/>
              </a:rPr>
              <a:t>PDF export of a case; final report</a:t>
            </a:r>
          </a:p>
        </p:txBody>
      </p:sp>
      <p:sp>
        <p:nvSpPr>
          <p:cNvPr id="7" name="Text 7"/>
          <p:cNvSpPr txBox="1"/>
          <p:nvPr/>
        </p:nvSpPr>
        <p:spPr>
          <a:xfrm>
            <a:off x="640080" y="4572000"/>
            <a:ext cx="10972800" cy="1554480"/>
          </a:xfrm>
          <a:prstGeom prst="rect">
            <a:avLst/>
          </a:prstGeom>
          <a:solidFill>
            <a:srgbClr val="EEF4FA"/>
          </a:solidFill>
          <a:ln>
            <a:noFill/>
          </a:ln>
        </p:spPr>
        <p:txBody>
          <a:bodyPr wrap="square" lIns="182880" tIns="182880" rIns="182880" bIns="182880" rtlCol="0" anchor="t">
            <a:noAutofit/>
          </a:bodyPr>
          <a:lstStyle/>
          <a:p>
            <a:pPr>
              <a:spcAft>
                <a:spcPts val="400"/>
              </a:spcAft>
              <a:buNone/>
            </a:pPr>
            <a:r>
              <a:rPr lang="en-US" sz="1200" b="1" dirty="0">
                <a:solidFill>
                  <a:srgbClr val="5E6873"/>
                </a:solidFill>
                <a:latin typeface="Arial"/>
                <a:cs typeface="Arial"/>
              </a:rPr>
              <a:t>LIMITATIONS WE STATE OPENLY</a:t>
            </a:r>
          </a:p>
          <a:p>
            <a:pPr>
              <a:spcAft>
                <a:spcPts val="400"/>
              </a:spcAft>
              <a:buNone/>
            </a:pPr>
            <a:r>
              <a:rPr lang="en-US" sz="1400" b="0" dirty="0">
                <a:solidFill>
                  <a:srgbClr val="1C2530"/>
                </a:solidFill>
                <a:latin typeface="Arial"/>
                <a:cs typeface="Arial"/>
              </a:rPr>
              <a:t>Unseen deepfake methods reach only 0.794 AUROC. Re-uploaded images raise false alarms. The vision judge missed the demo deepfake (0.05 with 85% confidence), so judge weights are kept low until calibrated. Detection is probabilistic, not proof.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25927" y="248626"/>
            <a:ext cx="9500000" cy="584775"/>
          </a:xfrm>
          <a:prstGeom prst="rect">
            <a:avLst/>
          </a:prstGeom>
          <a:noFill/>
        </p:spPr>
        <p:txBody>
          <a:bodyPr wrap="square" rtlCol="0">
            <a:noAutofit/>
          </a:bodyPr>
          <a:lstStyle/>
          <a:p>
            <a:r>
              <a:rPr lang="en-US" sz="3200" b="1" dirty="0">
                <a:solidFill>
                  <a:srgbClr val="46B0FA"/>
                </a:solidFill>
                <a:latin typeface="Arial"/>
                <a:cs typeface="Arial"/>
              </a:rPr>
              <a:t>Reference</a:t>
            </a:r>
          </a:p>
        </p:txBody>
      </p:sp>
      <p:sp>
        <p:nvSpPr>
          <p:cNvPr id="3" name="Text 3"/>
          <p:cNvSpPr txBox="1"/>
          <p:nvPr/>
        </p:nvSpPr>
        <p:spPr>
          <a:xfrm>
            <a:off x="640080" y="10515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A: CITED PAPERS</a:t>
            </a:r>
          </a:p>
        </p:txBody>
      </p:sp>
      <p:sp>
        <p:nvSpPr>
          <p:cNvPr id="4" name="Text 4"/>
          <p:cNvSpPr txBox="1"/>
          <p:nvPr/>
        </p:nvSpPr>
        <p:spPr>
          <a:xfrm>
            <a:off x="640080" y="1371600"/>
            <a:ext cx="5577840" cy="4846320"/>
          </a:xfrm>
          <a:prstGeom prst="rect">
            <a:avLst/>
          </a:prstGeom>
          <a:noFill/>
          <a:ln>
            <a:noFill/>
          </a:ln>
        </p:spPr>
        <p:txBody>
          <a:bodyPr wrap="square" lIns="0" tIns="0" rIns="0" bIns="0" rtlCol="0" anchor="t">
            <a:noAutofit/>
          </a:bodyPr>
          <a:lstStyle/>
          <a:p>
            <a:pPr>
              <a:spcAft>
                <a:spcPts val="700"/>
              </a:spcAft>
              <a:buNone/>
            </a:pPr>
            <a:r>
              <a:rPr lang="en-US" sz="1300" b="0" dirty="0">
                <a:solidFill>
                  <a:srgbClr val="1C2530"/>
                </a:solidFill>
                <a:latin typeface="Arial"/>
                <a:cs typeface="Arial"/>
              </a:rPr>
              <a:t>[1] Dugan et al., RAID: A Shared Benchmark for Robust Evaluation of Machine-Generated Text Detectors, ACL 2024</a:t>
            </a:r>
          </a:p>
          <a:p>
            <a:pPr>
              <a:spcAft>
                <a:spcPts val="700"/>
              </a:spcAft>
              <a:buNone/>
            </a:pPr>
            <a:r>
              <a:rPr lang="en-US" sz="1300" b="0" dirty="0">
                <a:solidFill>
                  <a:srgbClr val="1C2530"/>
                </a:solidFill>
                <a:latin typeface="Arial"/>
                <a:cs typeface="Arial"/>
              </a:rPr>
              <a:t>[2] Mitchell et al., DetectGPT, ICML 2023</a:t>
            </a:r>
          </a:p>
          <a:p>
            <a:pPr>
              <a:spcAft>
                <a:spcPts val="700"/>
              </a:spcAft>
              <a:buNone/>
            </a:pPr>
            <a:r>
              <a:rPr lang="en-US" sz="1300" b="0" dirty="0">
                <a:solidFill>
                  <a:srgbClr val="1C2530"/>
                </a:solidFill>
                <a:latin typeface="Arial"/>
                <a:cs typeface="Arial"/>
              </a:rPr>
              <a:t>[3] Hans et al., Spotting LLMs With Binoculars, ICML 2024</a:t>
            </a:r>
          </a:p>
          <a:p>
            <a:pPr>
              <a:spcAft>
                <a:spcPts val="700"/>
              </a:spcAft>
              <a:buNone/>
            </a:pPr>
            <a:r>
              <a:rPr lang="en-US" sz="1300" b="0" dirty="0">
                <a:solidFill>
                  <a:srgbClr val="1C2530"/>
                </a:solidFill>
                <a:latin typeface="Arial"/>
                <a:cs typeface="Arial"/>
              </a:rPr>
              <a:t>[4] Rossler et al., FaceForensics++, ICCV 2019</a:t>
            </a:r>
          </a:p>
          <a:p>
            <a:pPr>
              <a:spcAft>
                <a:spcPts val="700"/>
              </a:spcAft>
              <a:buNone/>
            </a:pPr>
            <a:r>
              <a:rPr lang="en-US" sz="1300" b="0" dirty="0">
                <a:solidFill>
                  <a:srgbClr val="1C2530"/>
                </a:solidFill>
                <a:latin typeface="Arial"/>
                <a:cs typeface="Arial"/>
              </a:rPr>
              <a:t>[5] Zi et al., WildDeepfake, ACM Multimedia 2020</a:t>
            </a:r>
          </a:p>
          <a:p>
            <a:pPr>
              <a:spcAft>
                <a:spcPts val="700"/>
              </a:spcAft>
              <a:buNone/>
            </a:pPr>
            <a:r>
              <a:rPr lang="en-US" sz="1300" b="0" dirty="0">
                <a:solidFill>
                  <a:srgbClr val="1C2530"/>
                </a:solidFill>
                <a:latin typeface="Arial"/>
                <a:cs typeface="Arial"/>
              </a:rPr>
              <a:t>[6] Lewis et al., Retrieval-Augmented Generation for Knowledge-Intensive NLP Tasks, NeurIPS 2020</a:t>
            </a:r>
          </a:p>
          <a:p>
            <a:pPr>
              <a:spcAft>
                <a:spcPts val="700"/>
              </a:spcAft>
              <a:buNone/>
            </a:pPr>
            <a:r>
              <a:rPr lang="en-US" sz="1300" b="0" dirty="0">
                <a:solidFill>
                  <a:srgbClr val="1C2530"/>
                </a:solidFill>
                <a:latin typeface="Arial"/>
                <a:cs typeface="Arial"/>
              </a:rPr>
              <a:t>[7] Zhang et al., Code-in-the-Loop Forensics, arXiv:2512.16300, 2026</a:t>
            </a:r>
          </a:p>
          <a:p>
            <a:pPr>
              <a:spcAft>
                <a:spcPts val="700"/>
              </a:spcAft>
              <a:buNone/>
            </a:pPr>
            <a:r>
              <a:rPr lang="en-US" sz="1300" b="0" dirty="0">
                <a:solidFill>
                  <a:srgbClr val="1C2530"/>
                </a:solidFill>
                <a:latin typeface="Arial"/>
                <a:cs typeface="Arial"/>
              </a:rPr>
              <a:t>[8] Wang et al., LaP-Forensics, arXiv:2607.25962, 2026</a:t>
            </a:r>
          </a:p>
        </p:txBody>
      </p:sp>
      <p:sp>
        <p:nvSpPr>
          <p:cNvPr id="5" name="Text 5"/>
          <p:cNvSpPr txBox="1"/>
          <p:nvPr/>
        </p:nvSpPr>
        <p:spPr>
          <a:xfrm>
            <a:off x="6400800" y="1051560"/>
            <a:ext cx="4572000" cy="310896"/>
          </a:xfrm>
          <a:prstGeom prst="rect">
            <a:avLst/>
          </a:prstGeom>
          <a:noFill/>
          <a:ln>
            <a:noFill/>
          </a:ln>
        </p:spPr>
        <p:txBody>
          <a:bodyPr wrap="square" lIns="0" tIns="0" rIns="0" bIns="0" rtlCol="0" anchor="t">
            <a:noAutofit/>
          </a:bodyPr>
          <a:lstStyle/>
          <a:p>
            <a:pPr>
              <a:spcAft>
                <a:spcPts val="400"/>
              </a:spcAft>
              <a:buNone/>
            </a:pPr>
            <a:r>
              <a:rPr lang="en-US" sz="1200" b="1" dirty="0">
                <a:solidFill>
                  <a:srgbClr val="5E6873"/>
                </a:solidFill>
                <a:latin typeface="Arial"/>
                <a:cs typeface="Arial"/>
              </a:rPr>
              <a:t>B: ADDED DURING IMPLEMENTATION</a:t>
            </a:r>
          </a:p>
        </p:txBody>
      </p:sp>
      <p:sp>
        <p:nvSpPr>
          <p:cNvPr id="6" name="Text 6"/>
          <p:cNvSpPr txBox="1"/>
          <p:nvPr/>
        </p:nvSpPr>
        <p:spPr>
          <a:xfrm>
            <a:off x="6400800" y="1371600"/>
            <a:ext cx="5303520" cy="4846320"/>
          </a:xfrm>
          <a:prstGeom prst="rect">
            <a:avLst/>
          </a:prstGeom>
          <a:noFill/>
          <a:ln>
            <a:noFill/>
          </a:ln>
        </p:spPr>
        <p:txBody>
          <a:bodyPr wrap="square" lIns="0" tIns="0" rIns="0" bIns="0" rtlCol="0" anchor="t">
            <a:noAutofit/>
          </a:bodyPr>
          <a:lstStyle/>
          <a:p>
            <a:pPr>
              <a:spcAft>
                <a:spcPts val="700"/>
              </a:spcAft>
              <a:buNone/>
            </a:pPr>
            <a:r>
              <a:rPr lang="en-US" sz="1300" b="0" dirty="0">
                <a:solidFill>
                  <a:srgbClr val="1C2530"/>
                </a:solidFill>
                <a:latin typeface="Arial"/>
                <a:cs typeface="Arial"/>
              </a:rPr>
              <a:t>[9] Selvaraju et al., Grad-CAM, ICCV 2017</a:t>
            </a:r>
          </a:p>
          <a:p>
            <a:pPr>
              <a:spcAft>
                <a:spcPts val="700"/>
              </a:spcAft>
              <a:buNone/>
            </a:pPr>
            <a:r>
              <a:rPr lang="en-US" sz="1300" b="0" dirty="0">
                <a:solidFill>
                  <a:srgbClr val="1C2530"/>
                </a:solidFill>
                <a:latin typeface="Arial"/>
                <a:cs typeface="Arial"/>
              </a:rPr>
              <a:t>[10] Tan and Le, EfficientNet, ICML 2019</a:t>
            </a:r>
          </a:p>
          <a:p>
            <a:pPr>
              <a:spcAft>
                <a:spcPts val="700"/>
              </a:spcAft>
              <a:buNone/>
            </a:pPr>
            <a:r>
              <a:rPr lang="en-US" sz="1300" b="0" dirty="0">
                <a:solidFill>
                  <a:srgbClr val="1C2530"/>
                </a:solidFill>
                <a:latin typeface="Arial"/>
                <a:cs typeface="Arial"/>
              </a:rPr>
              <a:t>[11] Li et al., Celeb-DF, CVPR 2020</a:t>
            </a:r>
          </a:p>
          <a:p>
            <a:pPr>
              <a:spcAft>
                <a:spcPts val="700"/>
              </a:spcAft>
              <a:buNone/>
            </a:pPr>
            <a:r>
              <a:rPr lang="en-US" sz="1300" b="0" dirty="0">
                <a:solidFill>
                  <a:srgbClr val="1C2530"/>
                </a:solidFill>
                <a:latin typeface="Arial"/>
                <a:cs typeface="Arial"/>
              </a:rPr>
              <a:t>[12] He et al., DeBERTa, ICLR 2021</a:t>
            </a:r>
          </a:p>
          <a:p>
            <a:pPr>
              <a:spcAft>
                <a:spcPts val="700"/>
              </a:spcAft>
              <a:buNone/>
            </a:pPr>
            <a:r>
              <a:rPr lang="en-US" sz="1300" b="0" dirty="0">
                <a:solidFill>
                  <a:srgbClr val="1C2530"/>
                </a:solidFill>
                <a:latin typeface="Arial"/>
                <a:cs typeface="Arial"/>
              </a:rPr>
              <a:t>[13] Radford et al., CLIP, ICML 2021</a:t>
            </a:r>
          </a:p>
          <a:p>
            <a:pPr>
              <a:spcAft>
                <a:spcPts val="700"/>
              </a:spcAft>
              <a:buNone/>
            </a:pPr>
            <a:r>
              <a:rPr lang="en-US" sz="1300" b="0" dirty="0">
                <a:solidFill>
                  <a:srgbClr val="1C2530"/>
                </a:solidFill>
                <a:latin typeface="Arial"/>
                <a:cs typeface="Arial"/>
              </a:rPr>
              <a:t>[14] Shinn et al., Reflexion, NeurIPS 2023</a:t>
            </a:r>
          </a:p>
          <a:p>
            <a:pPr>
              <a:spcAft>
                <a:spcPts val="700"/>
              </a:spcAft>
              <a:buNone/>
            </a:pPr>
            <a:r>
              <a:rPr lang="en-US" sz="1300" b="0" dirty="0">
                <a:solidFill>
                  <a:srgbClr val="1C2530"/>
                </a:solidFill>
                <a:latin typeface="Arial"/>
                <a:cs typeface="Arial"/>
              </a:rPr>
              <a:t>[15] Li et al., MAGE: Machine-generated Text Detection in the Wild, ACL 2024</a:t>
            </a:r>
          </a:p>
          <a:p>
            <a:pPr>
              <a:spcAft>
                <a:spcPts val="700"/>
              </a:spcAft>
              <a:buNone/>
            </a:pPr>
            <a:r>
              <a:rPr lang="en-US" sz="1300" b="0" dirty="0">
                <a:solidFill>
                  <a:srgbClr val="1C2530"/>
                </a:solidFill>
                <a:latin typeface="Arial"/>
                <a:cs typeface="Arial"/>
              </a:rPr>
              <a:t>[16] Yan et al., Corrective Retrieval Augmented Generation, arXiv:2401.15884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12293</TotalTime>
  <Words>153</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Mid-Semester Project Presentation: Agentic AI and RAG-Based Framework for Digital Forensics</dc:title>
  <dc:creator>Stuti Gandhi</dc:creator>
  <cp:lastModifiedBy>Bhagwant Singh</cp:lastModifiedBy>
  <cp:revision>571</cp:revision>
  <dcterms:created xsi:type="dcterms:W3CDTF">2021-05-06T09:42:21Z</dcterms:created>
  <dcterms:modified xsi:type="dcterms:W3CDTF">2022-03-17T06:55:53Z</dcterms:modified>
</cp:coreProperties>
</file>